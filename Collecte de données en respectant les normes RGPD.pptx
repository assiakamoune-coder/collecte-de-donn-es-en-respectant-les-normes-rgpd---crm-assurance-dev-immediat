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75CC8F15-7BBC-4152-8A04-B2A3E46DC00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5"/>
            <p14:sldId id="274"/>
            <p14:sldId id="276"/>
            <p14:sldId id="277"/>
          </p14:sldIdLst>
        </p14:section>
        <p14:section name="Section sans titre" id="{5860E521-F4E7-4724-B41D-80631CC726C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p:cViewPr varScale="1">
        <p:scale>
          <a:sx n="66" d="100"/>
          <a:sy n="66" d="100"/>
        </p:scale>
        <p:origin x="-1422" y="-96"/>
      </p:cViewPr>
      <p:guideLst>
        <p:guide orient="horz" pos="2160"/>
        <p:guide pos="2880"/>
      </p:guideLst>
    </p:cSldViewPr>
  </p:slideViewPr>
  <p:outlineViewPr>
    <p:cViewPr>
      <p:scale>
        <a:sx n="33" d="100"/>
        <a:sy n="33" d="100"/>
      </p:scale>
      <p:origin x="48" y="160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FBB635-9D91-45D2-B680-BD83D5B64459}" type="datetimeFigureOut">
              <a:rPr lang="fr-FR" smtClean="0"/>
              <a:t>01/11/2025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0D02A8-CBBF-41CF-8734-74F29D393555}" type="slidenum">
              <a:rPr lang="fr-FR" smtClean="0"/>
              <a:t>‹N°›</a:t>
            </a:fld>
            <a:endParaRPr lang="fr-FR"/>
          </a:p>
        </p:txBody>
      </p:sp>
    </p:spTree>
    <p:extLst>
      <p:ext uri="{BB962C8B-B14F-4D97-AF65-F5344CB8AC3E}">
        <p14:creationId xmlns:p14="http://schemas.microsoft.com/office/powerpoint/2010/main" val="3216846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50D02A8-CBBF-41CF-8734-74F29D393555}" type="slidenum">
              <a:rPr lang="fr-FR" smtClean="0"/>
              <a:t>2</a:t>
            </a:fld>
            <a:endParaRPr lang="fr-FR"/>
          </a:p>
        </p:txBody>
      </p:sp>
    </p:spTree>
    <p:extLst>
      <p:ext uri="{BB962C8B-B14F-4D97-AF65-F5344CB8AC3E}">
        <p14:creationId xmlns:p14="http://schemas.microsoft.com/office/powerpoint/2010/main" val="668912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50D02A8-CBBF-41CF-8734-74F29D393555}" type="slidenum">
              <a:rPr lang="fr-FR" smtClean="0"/>
              <a:t>21</a:t>
            </a:fld>
            <a:endParaRPr lang="fr-FR"/>
          </a:p>
        </p:txBody>
      </p:sp>
    </p:spTree>
    <p:extLst>
      <p:ext uri="{BB962C8B-B14F-4D97-AF65-F5344CB8AC3E}">
        <p14:creationId xmlns:p14="http://schemas.microsoft.com/office/powerpoint/2010/main" val="1226479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1759615A-1A37-4772-8D70-F535937DA7D9}" type="datetime1">
              <a:rPr lang="fr-FR" smtClean="0"/>
              <a:t>01/11/2025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D7C5483-BB9D-4EF4-A8A5-8F41CA8E1BF3}" type="slidenum">
              <a:rPr lang="fr-FR" smtClean="0"/>
              <a:t>‹N°›</a:t>
            </a:fld>
            <a:endParaRPr lang="fr-FR"/>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fr-FR" smtClean="0"/>
              <a:t>Modifiez le style du titre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4" name="Date Placeholder 3"/>
          <p:cNvSpPr>
            <a:spLocks noGrp="1"/>
          </p:cNvSpPr>
          <p:nvPr>
            <p:ph type="dt" sz="half" idx="10"/>
          </p:nvPr>
        </p:nvSpPr>
        <p:spPr/>
        <p:txBody>
          <a:bodyPr/>
          <a:lstStyle/>
          <a:p>
            <a:fld id="{947CF19B-B4BD-40E4-AB5B-6D33A6963152}" type="datetime1">
              <a:rPr lang="fr-FR" smtClean="0"/>
              <a:t>01/11/2025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D7C5483-BB9D-4EF4-A8A5-8F41CA8E1BF3}" type="slidenum">
              <a:rPr lang="fr-FR" smtClean="0"/>
              <a:t>‹N°›</a:t>
            </a:fld>
            <a:endParaRPr lang="fr-FR"/>
          </a:p>
        </p:txBody>
      </p:sp>
      <p:sp>
        <p:nvSpPr>
          <p:cNvPr id="8" name="Content Placeholder 7"/>
          <p:cNvSpPr>
            <a:spLocks noGrp="1"/>
          </p:cNvSpPr>
          <p:nvPr>
            <p:ph sz="quarter" idx="13"/>
          </p:nvPr>
        </p:nvSpPr>
        <p:spPr>
          <a:xfrm>
            <a:off x="609600" y="1600200"/>
            <a:ext cx="7924800" cy="41148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fr-FR" smtClean="0"/>
              <a:t>Modifiez le style du titre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883C0D19-0E42-490A-AA7F-14541F886AAB}" type="datetime1">
              <a:rPr lang="fr-FR" smtClean="0"/>
              <a:t>01/11/2025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5" name="Date Placeholder 4"/>
          <p:cNvSpPr>
            <a:spLocks noGrp="1"/>
          </p:cNvSpPr>
          <p:nvPr>
            <p:ph type="dt" sz="half" idx="10"/>
          </p:nvPr>
        </p:nvSpPr>
        <p:spPr/>
        <p:txBody>
          <a:bodyPr/>
          <a:lstStyle/>
          <a:p>
            <a:fld id="{FA9CEDAC-1356-442A-9EA0-FC153E6BF30D}" type="datetime1">
              <a:rPr lang="fr-FR" smtClean="0"/>
              <a:t>01/11/2025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7" name="Date Placeholder 6"/>
          <p:cNvSpPr>
            <a:spLocks noGrp="1"/>
          </p:cNvSpPr>
          <p:nvPr>
            <p:ph type="dt" sz="half" idx="10"/>
          </p:nvPr>
        </p:nvSpPr>
        <p:spPr/>
        <p:txBody>
          <a:bodyPr/>
          <a:lstStyle/>
          <a:p>
            <a:fld id="{3116D2E5-A71C-4FC8-99C7-02338997BC84}" type="datetime1">
              <a:rPr lang="fr-FR" smtClean="0"/>
              <a:t>01/11/2025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F2F5495-4170-4C4F-83F7-D266AE387089}" type="datetime1">
              <a:rPr lang="fr-FR" smtClean="0"/>
              <a:t>01/11/2025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8508D-3999-4F7B-A7C7-9D24F2795827}" type="datetime1">
              <a:rPr lang="fr-FR" smtClean="0"/>
              <a:t>01/11/2025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CA8BF68F-5903-497F-A54E-989985BADE3E}" type="datetime1">
              <a:rPr lang="fr-FR" smtClean="0"/>
              <a:t>01/11/2025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C2BD92F2-6A7E-42DA-BB87-23CF74EEC3BC}" type="datetime1">
              <a:rPr lang="fr-FR" smtClean="0"/>
              <a:t>01/11/2025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D57079FD-2764-426A-8860-D33B85C32A0D}" type="datetime1">
              <a:rPr lang="fr-FR" smtClean="0"/>
              <a:t>01/11/2025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85345381-A37E-49F5-8AAB-E15487443E84}" type="datetime1">
              <a:rPr lang="fr-FR" smtClean="0"/>
              <a:t>01/11/2025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D7C5483-BB9D-4EF4-A8A5-8F41CA8E1BF3}"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fr-FR" smtClean="0"/>
              <a:t>Modifiez le style du titre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904AA19E-62B6-41DF-B68E-B38BB212B1C6}" type="datetime1">
              <a:rPr lang="fr-FR" smtClean="0"/>
              <a:t>01/11/2025</a:t>
            </a:fld>
            <a:endParaRPr lang="fr-FR"/>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fr-FR"/>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ED7C5483-BB9D-4EF4-A8A5-8F41CA8E1BF3}"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3568" y="1916832"/>
            <a:ext cx="7772400" cy="1470025"/>
          </a:xfrm>
        </p:spPr>
        <p:txBody>
          <a:bodyPr/>
          <a:lstStyle/>
          <a:p>
            <a:r>
              <a:rPr lang="fr-FR" b="1" dirty="0" smtClean="0"/>
              <a:t/>
            </a:r>
            <a:br>
              <a:rPr lang="fr-FR" b="1" dirty="0" smtClean="0"/>
            </a:br>
            <a:r>
              <a:rPr lang="fr-FR" b="1" dirty="0" smtClean="0"/>
              <a:t>Collecte de </a:t>
            </a:r>
            <a:r>
              <a:rPr lang="fr-FR" b="1" dirty="0"/>
              <a:t>données en respectant les normes RGPD</a:t>
            </a:r>
            <a:r>
              <a:rPr lang="fr-FR" dirty="0"/>
              <a:t/>
            </a:r>
            <a:br>
              <a:rPr lang="fr-FR" dirty="0"/>
            </a:br>
            <a:endParaRPr lang="fr-FR" dirty="0"/>
          </a:p>
        </p:txBody>
      </p:sp>
      <p:pic>
        <p:nvPicPr>
          <p:cNvPr id="4" name="image1.png"/>
          <p:cNvPicPr/>
          <p:nvPr/>
        </p:nvPicPr>
        <p:blipFill>
          <a:blip r:embed="rId2">
            <a:lum/>
            <a:alphaModFix/>
          </a:blip>
          <a:srcRect/>
          <a:stretch>
            <a:fillRect/>
          </a:stretch>
        </p:blipFill>
        <p:spPr>
          <a:xfrm>
            <a:off x="2483768" y="3861048"/>
            <a:ext cx="3960440" cy="1196752"/>
          </a:xfrm>
          <a:prstGeom prst="rect">
            <a:avLst/>
          </a:prstGeom>
          <a:noFill/>
          <a:ln>
            <a:noFill/>
            <a:prstDash/>
          </a:ln>
        </p:spPr>
      </p:pic>
    </p:spTree>
    <p:extLst>
      <p:ext uri="{BB962C8B-B14F-4D97-AF65-F5344CB8AC3E}">
        <p14:creationId xmlns:p14="http://schemas.microsoft.com/office/powerpoint/2010/main" val="37014310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71400"/>
            <a:ext cx="7924800" cy="922114"/>
          </a:xfrm>
        </p:spPr>
        <p:txBody>
          <a:bodyPr>
            <a:normAutofit/>
          </a:bodyPr>
          <a:lstStyle/>
          <a:p>
            <a:pPr algn="ctr"/>
            <a:r>
              <a:rPr lang="fr-FR" b="1" dirty="0" smtClean="0">
                <a:latin typeface="Arial" panose="020B0604020202020204" pitchFamily="34" charset="0"/>
                <a:cs typeface="Arial" panose="020B0604020202020204" pitchFamily="34" charset="0"/>
              </a:rPr>
              <a:t>Objectifs et enjeux </a:t>
            </a:r>
            <a:endParaRPr lang="fr-FR" b="1"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a:xfrm>
            <a:off x="539552" y="980728"/>
            <a:ext cx="7924800" cy="4781128"/>
          </a:xfrm>
        </p:spPr>
        <p:txBody>
          <a:bodyPr>
            <a:noAutofit/>
          </a:bodyPr>
          <a:lstStyle/>
          <a:p>
            <a:pPr algn="just"/>
            <a:r>
              <a:rPr lang="fr-FR" dirty="0" smtClean="0">
                <a:latin typeface="Arial" panose="020B0604020202020204" pitchFamily="34" charset="0"/>
                <a:cs typeface="Arial" panose="020B0604020202020204" pitchFamily="34" charset="0"/>
              </a:rPr>
              <a:t>Les </a:t>
            </a:r>
            <a:r>
              <a:rPr lang="fr-FR" dirty="0">
                <a:latin typeface="Arial" panose="020B0604020202020204" pitchFamily="34" charset="0"/>
                <a:cs typeface="Arial" panose="020B0604020202020204" pitchFamily="34" charset="0"/>
              </a:rPr>
              <a:t>démarches pour assurer la conformité du système CRM avec le Règlement Général sur la Protection des Données (RGPD</a:t>
            </a:r>
            <a:r>
              <a:rPr lang="fr-FR" dirty="0" smtClean="0">
                <a:latin typeface="Arial" panose="020B0604020202020204" pitchFamily="34" charset="0"/>
                <a:cs typeface="Arial" panose="020B0604020202020204" pitchFamily="34" charset="0"/>
              </a:rPr>
              <a:t>) pour répondre à la sanction de la CNIL imposant une limitation temporaire des traitements. </a:t>
            </a:r>
          </a:p>
          <a:p>
            <a:pPr algn="just"/>
            <a:endParaRPr lang="fr-FR" dirty="0" smtClean="0">
              <a:latin typeface="Arial" panose="020B0604020202020204" pitchFamily="34" charset="0"/>
              <a:cs typeface="Arial" panose="020B0604020202020204" pitchFamily="34" charset="0"/>
            </a:endParaRPr>
          </a:p>
          <a:p>
            <a:pPr algn="just"/>
            <a:r>
              <a:rPr lang="fr-FR" dirty="0" smtClean="0">
                <a:latin typeface="Arial" panose="020B0604020202020204" pitchFamily="34" charset="0"/>
                <a:cs typeface="Arial" panose="020B0604020202020204" pitchFamily="34" charset="0"/>
              </a:rPr>
              <a:t>L’objectif </a:t>
            </a:r>
            <a:r>
              <a:rPr lang="fr-FR" dirty="0">
                <a:latin typeface="Arial" panose="020B0604020202020204" pitchFamily="34" charset="0"/>
                <a:cs typeface="Arial" panose="020B0604020202020204" pitchFamily="34" charset="0"/>
              </a:rPr>
              <a:t>est de documenter le processus d’anonymisation des données personnelles, tout en garantissant la continuité d’exploitation à des fins d’analyse statistique et commerciale.</a:t>
            </a:r>
          </a:p>
          <a:p>
            <a:pPr marL="0" indent="0" algn="just">
              <a:buNone/>
            </a:pPr>
            <a:endParaRPr lang="fr-FR" dirty="0">
              <a:latin typeface="Arial" panose="020B0604020202020204" pitchFamily="34" charset="0"/>
              <a:cs typeface="Arial" panose="020B0604020202020204" pitchFamily="34" charset="0"/>
            </a:endParaRPr>
          </a:p>
          <a:p>
            <a:pPr algn="just"/>
            <a:r>
              <a:rPr lang="fr-FR" dirty="0">
                <a:latin typeface="Arial" panose="020B0604020202020204" pitchFamily="34" charset="0"/>
                <a:cs typeface="Arial" panose="020B0604020202020204" pitchFamily="34" charset="0"/>
              </a:rPr>
              <a:t>Les enjeux sont à la </a:t>
            </a:r>
            <a:r>
              <a:rPr lang="fr-FR" dirty="0" smtClean="0">
                <a:latin typeface="Arial" panose="020B0604020202020204" pitchFamily="34" charset="0"/>
                <a:cs typeface="Arial" panose="020B0604020202020204" pitchFamily="34" charset="0"/>
              </a:rPr>
              <a:t>fois: </a:t>
            </a:r>
            <a:endParaRPr lang="fr-FR" dirty="0" smtClean="0">
              <a:latin typeface="Arial" panose="020B0604020202020204" pitchFamily="34" charset="0"/>
              <a:cs typeface="Arial" panose="020B0604020202020204" pitchFamily="34" charset="0"/>
            </a:endParaRPr>
          </a:p>
          <a:p>
            <a:pPr algn="just"/>
            <a:endParaRPr lang="fr-FR" dirty="0" smtClean="0">
              <a:latin typeface="Arial" panose="020B0604020202020204" pitchFamily="34" charset="0"/>
              <a:cs typeface="Arial" panose="020B0604020202020204" pitchFamily="34" charset="0"/>
            </a:endParaRPr>
          </a:p>
          <a:p>
            <a:pPr marL="722313" indent="-88900" algn="just">
              <a:buFont typeface="Wingdings" panose="05000000000000000000" pitchFamily="2" charset="2"/>
              <a:buChar char="ü"/>
            </a:pPr>
            <a:r>
              <a:rPr lang="fr-FR" dirty="0" smtClean="0">
                <a:latin typeface="Arial" panose="020B0604020202020204" pitchFamily="34" charset="0"/>
                <a:cs typeface="Arial" panose="020B0604020202020204" pitchFamily="34" charset="0"/>
              </a:rPr>
              <a:t>Juridiques (éviter toute nouvelle sanction), </a:t>
            </a:r>
          </a:p>
          <a:p>
            <a:pPr marL="722313" indent="-88900" algn="just">
              <a:buFont typeface="Wingdings" panose="05000000000000000000" pitchFamily="2" charset="2"/>
              <a:buChar char="ü"/>
            </a:pPr>
            <a:r>
              <a:rPr lang="fr-FR" dirty="0" smtClean="0">
                <a:latin typeface="Arial" panose="020B0604020202020204" pitchFamily="34" charset="0"/>
                <a:cs typeface="Arial" panose="020B0604020202020204" pitchFamily="34" charset="0"/>
              </a:rPr>
              <a:t>Techniques (sécurisation des données),</a:t>
            </a:r>
          </a:p>
          <a:p>
            <a:pPr marL="722313" indent="-88900" algn="just">
              <a:buFont typeface="Wingdings" panose="05000000000000000000" pitchFamily="2" charset="2"/>
              <a:buChar char="ü"/>
            </a:pPr>
            <a:r>
              <a:rPr lang="fr-FR" dirty="0" smtClean="0">
                <a:latin typeface="Arial" panose="020B0604020202020204" pitchFamily="34" charset="0"/>
                <a:cs typeface="Arial" panose="020B0604020202020204" pitchFamily="34" charset="0"/>
              </a:rPr>
              <a:t>Organisationnels (instauration d’une culture de conformité).</a:t>
            </a:r>
            <a:endParaRPr lang="fr-FR"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2</a:t>
            </a:fld>
            <a:endParaRPr lang="fr-FR"/>
          </a:p>
        </p:txBody>
      </p:sp>
    </p:spTree>
    <p:extLst>
      <p:ext uri="{BB962C8B-B14F-4D97-AF65-F5344CB8AC3E}">
        <p14:creationId xmlns:p14="http://schemas.microsoft.com/office/powerpoint/2010/main" val="34865796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88640"/>
            <a:ext cx="8229600" cy="1143000"/>
          </a:xfrm>
        </p:spPr>
        <p:txBody>
          <a:bodyPr>
            <a:normAutofit/>
          </a:bodyPr>
          <a:lstStyle/>
          <a:p>
            <a:pPr algn="ctr"/>
            <a:r>
              <a:rPr lang="fr-FR" sz="2400" b="1" dirty="0" smtClean="0">
                <a:latin typeface="Arial" panose="020B0604020202020204" pitchFamily="34" charset="0"/>
                <a:cs typeface="Arial" panose="020B0604020202020204" pitchFamily="34" charset="0"/>
              </a:rPr>
              <a:t>Règles de gestion à respecter pour être conforme avec RGPD </a:t>
            </a:r>
            <a:endParaRPr lang="fr-FR" sz="2400" b="1"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a:xfrm>
            <a:off x="251520" y="1700808"/>
            <a:ext cx="8568952" cy="4929411"/>
          </a:xfrm>
        </p:spPr>
        <p:txBody>
          <a:bodyPr>
            <a:noAutofit/>
          </a:bodyPr>
          <a:lstStyle/>
          <a:p>
            <a:pPr lvl="0" algn="just"/>
            <a:r>
              <a:rPr lang="fr-FR" b="1" dirty="0">
                <a:latin typeface="Arial" panose="020B0604020202020204" pitchFamily="34" charset="0"/>
                <a:cs typeface="Arial" panose="020B0604020202020204" pitchFamily="34" charset="0"/>
              </a:rPr>
              <a:t>Minimisation des données :</a:t>
            </a:r>
            <a:r>
              <a:rPr lang="fr-FR" dirty="0">
                <a:latin typeface="Arial" panose="020B0604020202020204" pitchFamily="34" charset="0"/>
                <a:cs typeface="Arial" panose="020B0604020202020204" pitchFamily="34" charset="0"/>
              </a:rPr>
              <a:t> Ne conserver que les données strictement nécessaires à la finalité déclarée (gestion de la relation client et des devis d’assurance</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lvl="0" algn="just"/>
            <a:r>
              <a:rPr lang="fr-FR" b="1" dirty="0">
                <a:latin typeface="Arial" panose="020B0604020202020204" pitchFamily="34" charset="0"/>
                <a:cs typeface="Arial" panose="020B0604020202020204" pitchFamily="34" charset="0"/>
              </a:rPr>
              <a:t>Anonymisation et pseudonymisation :</a:t>
            </a:r>
            <a:r>
              <a:rPr lang="fr-FR" dirty="0">
                <a:latin typeface="Arial" panose="020B0604020202020204" pitchFamily="34" charset="0"/>
                <a:cs typeface="Arial" panose="020B0604020202020204" pitchFamily="34" charset="0"/>
              </a:rPr>
              <a:t> Rendre impossible toute identification directe ou indirecte d’une personne</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lvl="0" algn="just"/>
            <a:r>
              <a:rPr lang="fr-FR" b="1" dirty="0">
                <a:latin typeface="Arial" panose="020B0604020202020204" pitchFamily="34" charset="0"/>
                <a:cs typeface="Arial" panose="020B0604020202020204" pitchFamily="34" charset="0"/>
              </a:rPr>
              <a:t>Limitation de la durée de conservation :</a:t>
            </a:r>
            <a:r>
              <a:rPr lang="fr-FR" dirty="0">
                <a:latin typeface="Arial" panose="020B0604020202020204" pitchFamily="34" charset="0"/>
                <a:cs typeface="Arial" panose="020B0604020202020204" pitchFamily="34" charset="0"/>
              </a:rPr>
              <a:t> Garantir que les données personnelles ne soient pas conservées au-delà de la période nécessaire</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lvl="0" algn="just"/>
            <a:r>
              <a:rPr lang="fr-FR" b="1" dirty="0">
                <a:latin typeface="Arial" panose="020B0604020202020204" pitchFamily="34" charset="0"/>
                <a:cs typeface="Arial" panose="020B0604020202020204" pitchFamily="34" charset="0"/>
              </a:rPr>
              <a:t>Sécurisation et contrôle des accès :</a:t>
            </a:r>
            <a:r>
              <a:rPr lang="fr-FR" dirty="0">
                <a:latin typeface="Arial" panose="020B0604020202020204" pitchFamily="34" charset="0"/>
                <a:cs typeface="Arial" panose="020B0604020202020204" pitchFamily="34" charset="0"/>
              </a:rPr>
              <a:t> Garantir que seules les personnes habilitées accèdent aux données pertinentes</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lvl="0" algn="just"/>
            <a:r>
              <a:rPr lang="fr-FR" b="1" dirty="0">
                <a:latin typeface="Arial" panose="020B0604020202020204" pitchFamily="34" charset="0"/>
                <a:cs typeface="Arial" panose="020B0604020202020204" pitchFamily="34" charset="0"/>
              </a:rPr>
              <a:t>Transparence et droits des personnes :</a:t>
            </a:r>
            <a:r>
              <a:rPr lang="fr-FR" dirty="0">
                <a:latin typeface="Arial" panose="020B0604020202020204" pitchFamily="34" charset="0"/>
                <a:cs typeface="Arial" panose="020B0604020202020204" pitchFamily="34" charset="0"/>
              </a:rPr>
              <a:t> Les personnes doivent être informées de l’utilisation des données les concernant et de la manière dont elles peuvent exercer leurs droits. Assurer une transparence totale et une preuve de conformité en cas de contrôle CNIL.</a:t>
            </a:r>
          </a:p>
          <a:p>
            <a:pPr algn="just"/>
            <a:endParaRPr lang="fr-FR"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3</a:t>
            </a:fld>
            <a:endParaRPr lang="fr-FR"/>
          </a:p>
        </p:txBody>
      </p:sp>
    </p:spTree>
    <p:extLst>
      <p:ext uri="{BB962C8B-B14F-4D97-AF65-F5344CB8AC3E}">
        <p14:creationId xmlns:p14="http://schemas.microsoft.com/office/powerpoint/2010/main" val="9332837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35436" y="260648"/>
            <a:ext cx="8229600" cy="576064"/>
          </a:xfrm>
        </p:spPr>
        <p:txBody>
          <a:bodyPr>
            <a:normAutofit/>
          </a:bodyPr>
          <a:lstStyle/>
          <a:p>
            <a:pPr algn="ctr"/>
            <a:r>
              <a:rPr lang="fr-FR" sz="2600" b="1" dirty="0" smtClean="0">
                <a:latin typeface="Arial" panose="020B0604020202020204" pitchFamily="34" charset="0"/>
                <a:cs typeface="Arial" panose="020B0604020202020204" pitchFamily="34" charset="0"/>
              </a:rPr>
              <a:t>Requête </a:t>
            </a:r>
            <a:r>
              <a:rPr lang="fr-FR" sz="2600" b="1" dirty="0">
                <a:latin typeface="Arial" panose="020B0604020202020204" pitchFamily="34" charset="0"/>
                <a:cs typeface="Arial" panose="020B0604020202020204" pitchFamily="34" charset="0"/>
              </a:rPr>
              <a:t>SQL</a:t>
            </a:r>
          </a:p>
        </p:txBody>
      </p:sp>
      <p:sp>
        <p:nvSpPr>
          <p:cNvPr id="3" name="Espace réservé du contenu 2"/>
          <p:cNvSpPr>
            <a:spLocks noGrp="1"/>
          </p:cNvSpPr>
          <p:nvPr>
            <p:ph sz="quarter" idx="13"/>
          </p:nvPr>
        </p:nvSpPr>
        <p:spPr>
          <a:xfrm>
            <a:off x="457200" y="1052736"/>
            <a:ext cx="8363272" cy="5653370"/>
          </a:xfrm>
        </p:spPr>
        <p:txBody>
          <a:bodyPr>
            <a:normAutofit/>
          </a:bodyPr>
          <a:lstStyle/>
          <a:p>
            <a:pPr algn="just"/>
            <a:r>
              <a:rPr lang="fr-FR" sz="1800" dirty="0">
                <a:latin typeface="Arial" panose="020B0604020202020204" pitchFamily="34" charset="0"/>
                <a:cs typeface="Arial" panose="020B0604020202020204" pitchFamily="34" charset="0"/>
              </a:rPr>
              <a:t>Cette requête exclut les colonnes contenant des données personnelles </a:t>
            </a:r>
            <a:r>
              <a:rPr lang="fr-FR" sz="1800" b="1" dirty="0">
                <a:latin typeface="Arial" panose="020B0604020202020204" pitchFamily="34" charset="0"/>
                <a:cs typeface="Arial" panose="020B0604020202020204" pitchFamily="34" charset="0"/>
              </a:rPr>
              <a:t>(</a:t>
            </a:r>
            <a:r>
              <a:rPr lang="fr-FR" sz="1800" b="1" dirty="0" err="1">
                <a:latin typeface="Arial" panose="020B0604020202020204" pitchFamily="34" charset="0"/>
                <a:cs typeface="Arial" panose="020B0604020202020204" pitchFamily="34" charset="0"/>
              </a:rPr>
              <a:t>metier</a:t>
            </a:r>
            <a:r>
              <a:rPr lang="fr-FR" sz="1800" b="1" dirty="0">
                <a:latin typeface="Arial" panose="020B0604020202020204" pitchFamily="34" charset="0"/>
                <a:cs typeface="Arial" panose="020B0604020202020204" pitchFamily="34" charset="0"/>
              </a:rPr>
              <a:t>, employeur, </a:t>
            </a:r>
            <a:r>
              <a:rPr lang="fr-FR" sz="1800" b="1" dirty="0" err="1">
                <a:latin typeface="Arial" panose="020B0604020202020204" pitchFamily="34" charset="0"/>
                <a:cs typeface="Arial" panose="020B0604020202020204" pitchFamily="34" charset="0"/>
              </a:rPr>
              <a:t>num_ss</a:t>
            </a:r>
            <a:r>
              <a:rPr lang="fr-FR" sz="1800" b="1" dirty="0">
                <a:latin typeface="Arial" panose="020B0604020202020204" pitchFamily="34" charset="0"/>
                <a:cs typeface="Arial" panose="020B0604020202020204" pitchFamily="34" charset="0"/>
              </a:rPr>
              <a:t>, </a:t>
            </a:r>
            <a:r>
              <a:rPr lang="fr-FR" sz="1800" b="1" dirty="0" err="1">
                <a:latin typeface="Arial" panose="020B0604020202020204" pitchFamily="34" charset="0"/>
                <a:cs typeface="Arial" panose="020B0604020202020204" pitchFamily="34" charset="0"/>
              </a:rPr>
              <a:t>groupe_sanguin</a:t>
            </a:r>
            <a:r>
              <a:rPr lang="fr-FR" sz="1800" b="1" dirty="0">
                <a:latin typeface="Arial" panose="020B0604020202020204" pitchFamily="34" charset="0"/>
                <a:cs typeface="Arial" panose="020B0604020202020204" pitchFamily="34" charset="0"/>
              </a:rPr>
              <a:t>, </a:t>
            </a:r>
            <a:r>
              <a:rPr lang="fr-FR" sz="1800" b="1" dirty="0" err="1">
                <a:latin typeface="Arial" panose="020B0604020202020204" pitchFamily="34" charset="0"/>
                <a:cs typeface="Arial" panose="020B0604020202020204" pitchFamily="34" charset="0"/>
              </a:rPr>
              <a:t>id_site_web</a:t>
            </a:r>
            <a:r>
              <a:rPr lang="fr-FR" sz="1800" b="1" dirty="0">
                <a:latin typeface="Arial" panose="020B0604020202020204" pitchFamily="34" charset="0"/>
                <a:cs typeface="Arial" panose="020B0604020202020204" pitchFamily="34" charset="0"/>
              </a:rPr>
              <a:t>, nom, email, </a:t>
            </a:r>
            <a:r>
              <a:rPr lang="fr-FR" sz="1800" b="1" dirty="0" err="1">
                <a:latin typeface="Arial" panose="020B0604020202020204" pitchFamily="34" charset="0"/>
                <a:cs typeface="Arial" panose="020B0604020202020204" pitchFamily="34" charset="0"/>
              </a:rPr>
              <a:t>valeur_residence_prin</a:t>
            </a:r>
            <a:r>
              <a:rPr lang="fr-FR" sz="1800" b="1" dirty="0">
                <a:latin typeface="Arial" panose="020B0604020202020204" pitchFamily="34" charset="0"/>
                <a:cs typeface="Arial" panose="020B0604020202020204" pitchFamily="34" charset="0"/>
              </a:rPr>
              <a:t>, formation, </a:t>
            </a:r>
            <a:r>
              <a:rPr lang="fr-FR" sz="1800" b="1" dirty="0" err="1">
                <a:latin typeface="Arial" panose="020B0604020202020204" pitchFamily="34" charset="0"/>
                <a:cs typeface="Arial" panose="020B0604020202020204" pitchFamily="34" charset="0"/>
              </a:rPr>
              <a:t>est_rouge</a:t>
            </a:r>
            <a:r>
              <a:rPr lang="fr-FR" sz="1800" b="1" dirty="0">
                <a:latin typeface="Arial" panose="020B0604020202020204" pitchFamily="34" charset="0"/>
                <a:cs typeface="Arial" panose="020B0604020202020204" pitchFamily="34" charset="0"/>
              </a:rPr>
              <a:t>, formule, adresse, </a:t>
            </a:r>
            <a:r>
              <a:rPr lang="fr-FR" sz="1800" b="1" dirty="0" err="1">
                <a:latin typeface="Arial" panose="020B0604020202020204" pitchFamily="34" charset="0"/>
                <a:cs typeface="Arial" panose="020B0604020202020204" pitchFamily="34" charset="0"/>
              </a:rPr>
              <a:t>lat</a:t>
            </a:r>
            <a:r>
              <a:rPr lang="fr-FR" sz="1800" b="1" dirty="0">
                <a:latin typeface="Arial" panose="020B0604020202020204" pitchFamily="34" charset="0"/>
                <a:cs typeface="Arial" panose="020B0604020202020204" pitchFamily="34" charset="0"/>
              </a:rPr>
              <a:t>, </a:t>
            </a:r>
            <a:r>
              <a:rPr lang="fr-FR" sz="1800" b="1" dirty="0" err="1">
                <a:latin typeface="Arial" panose="020B0604020202020204" pitchFamily="34" charset="0"/>
                <a:cs typeface="Arial" panose="020B0604020202020204" pitchFamily="34" charset="0"/>
              </a:rPr>
              <a:t>lon</a:t>
            </a:r>
            <a:r>
              <a:rPr lang="fr-FR" sz="1800" b="1" dirty="0">
                <a:latin typeface="Arial" panose="020B0604020202020204" pitchFamily="34" charset="0"/>
                <a:cs typeface="Arial" panose="020B0604020202020204" pitchFamily="34" charset="0"/>
              </a:rPr>
              <a:t>)</a:t>
            </a:r>
            <a:r>
              <a:rPr lang="fr-FR" sz="1800" dirty="0">
                <a:latin typeface="Arial" panose="020B0604020202020204" pitchFamily="34" charset="0"/>
                <a:cs typeface="Arial" panose="020B0604020202020204" pitchFamily="34" charset="0"/>
              </a:rPr>
              <a:t> et conserve uniquement les variables nécessaires à l’analyse commerciale agrégée, avec un état de dossier complet, et où la demande a été effectuée en 2022.</a:t>
            </a:r>
          </a:p>
          <a:p>
            <a:pPr marL="0" indent="0" algn="ctr">
              <a:buNone/>
            </a:pPr>
            <a:r>
              <a:rPr lang="fr-FR" sz="2400" b="1" dirty="0">
                <a:latin typeface="Arial" panose="020B0604020202020204" pitchFamily="34" charset="0"/>
                <a:cs typeface="Arial" panose="020B0604020202020204" pitchFamily="34" charset="0"/>
              </a:rPr>
              <a:t> </a:t>
            </a:r>
            <a:r>
              <a:rPr lang="fr-FR" sz="2400" b="1" dirty="0" smtClean="0">
                <a:latin typeface="Arial" panose="020B0604020202020204" pitchFamily="34" charset="0"/>
                <a:cs typeface="Arial" panose="020B0604020202020204" pitchFamily="34" charset="0"/>
              </a:rPr>
              <a:t>Code SQL</a:t>
            </a:r>
            <a:endParaRPr lang="fr-FR" sz="2400" dirty="0">
              <a:latin typeface="Arial" panose="020B0604020202020204" pitchFamily="34" charset="0"/>
              <a:cs typeface="Arial" panose="020B0604020202020204" pitchFamily="34" charset="0"/>
            </a:endParaRPr>
          </a:p>
          <a:p>
            <a:pPr algn="just"/>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467544" y="3356992"/>
            <a:ext cx="8280920" cy="3384376"/>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4</a:t>
            </a:fld>
            <a:endParaRPr lang="fr-FR"/>
          </a:p>
        </p:txBody>
      </p:sp>
    </p:spTree>
    <p:extLst>
      <p:ext uri="{BB962C8B-B14F-4D97-AF65-F5344CB8AC3E}">
        <p14:creationId xmlns:p14="http://schemas.microsoft.com/office/powerpoint/2010/main" val="1585461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18864" y="332656"/>
            <a:ext cx="8229600" cy="576064"/>
          </a:xfrm>
        </p:spPr>
        <p:txBody>
          <a:bodyPr>
            <a:normAutofit/>
          </a:bodyPr>
          <a:lstStyle/>
          <a:p>
            <a:pPr algn="ctr"/>
            <a:r>
              <a:rPr lang="fr-FR" sz="2800" b="1" dirty="0" smtClean="0">
                <a:latin typeface="Arial" panose="020B0604020202020204" pitchFamily="34" charset="0"/>
                <a:cs typeface="Arial" panose="020B0604020202020204" pitchFamily="34" charset="0"/>
              </a:rPr>
              <a:t>Requête SQL</a:t>
            </a:r>
            <a:endParaRPr lang="fr-FR" sz="2800" b="1"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395536" y="1196752"/>
            <a:ext cx="8352928" cy="4968552"/>
          </a:xfrm>
          <a:prstGeom prst="rect">
            <a:avLst/>
          </a:prstGeom>
        </p:spPr>
      </p:pic>
      <p:sp>
        <p:nvSpPr>
          <p:cNvPr id="5" name="Espace réservé du numéro de diapositive 4"/>
          <p:cNvSpPr>
            <a:spLocks noGrp="1"/>
          </p:cNvSpPr>
          <p:nvPr>
            <p:ph type="sldNum" sz="quarter" idx="12"/>
          </p:nvPr>
        </p:nvSpPr>
        <p:spPr/>
        <p:txBody>
          <a:bodyPr/>
          <a:lstStyle/>
          <a:p>
            <a:fld id="{ED7C5483-BB9D-4EF4-A8A5-8F41CA8E1BF3}" type="slidenum">
              <a:rPr lang="fr-FR" smtClean="0"/>
              <a:t>5</a:t>
            </a:fld>
            <a:endParaRPr lang="fr-FR"/>
          </a:p>
        </p:txBody>
      </p:sp>
    </p:spTree>
    <p:extLst>
      <p:ext uri="{BB962C8B-B14F-4D97-AF65-F5344CB8AC3E}">
        <p14:creationId xmlns:p14="http://schemas.microsoft.com/office/powerpoint/2010/main" val="163310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7640" y="332656"/>
            <a:ext cx="7924800" cy="769566"/>
          </a:xfrm>
        </p:spPr>
        <p:txBody>
          <a:bodyPr>
            <a:noAutofit/>
          </a:bodyPr>
          <a:lstStyle/>
          <a:p>
            <a:pPr algn="ctr"/>
            <a:r>
              <a:rPr lang="fr-FR" sz="2000" b="1" dirty="0" smtClean="0">
                <a:latin typeface="Arial" panose="020B0604020202020204" pitchFamily="34" charset="0"/>
                <a:cs typeface="Arial" panose="020B0604020202020204" pitchFamily="34" charset="0"/>
              </a:rPr>
              <a:t>Les </a:t>
            </a:r>
            <a:r>
              <a:rPr lang="fr-FR" sz="2000" b="1" dirty="0">
                <a:latin typeface="Arial" panose="020B0604020202020204" pitchFamily="34" charset="0"/>
                <a:cs typeface="Arial" panose="020B0604020202020204" pitchFamily="34" charset="0"/>
              </a:rPr>
              <a:t>traitements effectués sur le jeu de données pour le rendre compatible avec le RGPD</a:t>
            </a:r>
          </a:p>
        </p:txBody>
      </p:sp>
      <p:sp>
        <p:nvSpPr>
          <p:cNvPr id="3" name="Espace réservé du contenu 2"/>
          <p:cNvSpPr>
            <a:spLocks noGrp="1"/>
          </p:cNvSpPr>
          <p:nvPr>
            <p:ph sz="quarter" idx="13"/>
          </p:nvPr>
        </p:nvSpPr>
        <p:spPr>
          <a:xfrm>
            <a:off x="323528" y="1340768"/>
            <a:ext cx="8568952" cy="5400600"/>
          </a:xfrm>
        </p:spPr>
        <p:txBody>
          <a:bodyPr>
            <a:normAutofit/>
          </a:bodyPr>
          <a:lstStyle/>
          <a:p>
            <a:pPr marL="0" indent="0" algn="just">
              <a:buNone/>
            </a:pPr>
            <a:r>
              <a:rPr lang="fr-FR" sz="1800" dirty="0">
                <a:latin typeface="Arial" panose="020B0604020202020204" pitchFamily="34" charset="0"/>
                <a:cs typeface="Arial" panose="020B0604020202020204" pitchFamily="34" charset="0"/>
              </a:rPr>
              <a:t>Les étapes d’anonymisation ont été réalisées à l’aide </a:t>
            </a:r>
            <a:r>
              <a:rPr lang="fr-FR" sz="1800" b="1" dirty="0">
                <a:latin typeface="Arial" panose="020B0604020202020204" pitchFamily="34" charset="0"/>
                <a:cs typeface="Arial" panose="020B0604020202020204" pitchFamily="34" charset="0"/>
              </a:rPr>
              <a:t>de Microsoft Power </a:t>
            </a:r>
            <a:r>
              <a:rPr lang="fr-FR" sz="1800" b="1" dirty="0" err="1">
                <a:latin typeface="Arial" panose="020B0604020202020204" pitchFamily="34" charset="0"/>
                <a:cs typeface="Arial" panose="020B0604020202020204" pitchFamily="34" charset="0"/>
              </a:rPr>
              <a:t>Query</a:t>
            </a:r>
            <a:r>
              <a:rPr lang="fr-FR" sz="1800" b="1" dirty="0">
                <a:latin typeface="Arial" panose="020B0604020202020204" pitchFamily="34" charset="0"/>
                <a:cs typeface="Arial" panose="020B0604020202020204" pitchFamily="34" charset="0"/>
              </a:rPr>
              <a:t> :</a:t>
            </a:r>
          </a:p>
          <a:p>
            <a:pPr marL="0" indent="0" algn="just">
              <a:buNone/>
            </a:pPr>
            <a:r>
              <a:rPr lang="fr-FR" sz="1800" dirty="0" smtClean="0">
                <a:latin typeface="Arial" panose="020B0604020202020204" pitchFamily="34" charset="0"/>
                <a:cs typeface="Arial" panose="020B0604020202020204" pitchFamily="34" charset="0"/>
              </a:rPr>
              <a:t>1</a:t>
            </a:r>
            <a:r>
              <a:rPr lang="fr-FR" sz="1800" dirty="0">
                <a:latin typeface="Arial" panose="020B0604020202020204" pitchFamily="34" charset="0"/>
                <a:cs typeface="Arial" panose="020B0604020202020204" pitchFamily="34" charset="0"/>
              </a:rPr>
              <a:t>. Importation du fichier CSV brut.</a:t>
            </a:r>
          </a:p>
          <a:p>
            <a:pPr marL="0" indent="0" algn="just">
              <a:buNone/>
            </a:pPr>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395536" y="2420888"/>
            <a:ext cx="8136904" cy="3888432"/>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6</a:t>
            </a:fld>
            <a:endParaRPr lang="fr-FR"/>
          </a:p>
        </p:txBody>
      </p:sp>
    </p:spTree>
    <p:extLst>
      <p:ext uri="{BB962C8B-B14F-4D97-AF65-F5344CB8AC3E}">
        <p14:creationId xmlns:p14="http://schemas.microsoft.com/office/powerpoint/2010/main" val="21598239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792088"/>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b="1" dirty="0"/>
          </a:p>
        </p:txBody>
      </p:sp>
      <p:sp>
        <p:nvSpPr>
          <p:cNvPr id="3" name="Espace réservé du contenu 2"/>
          <p:cNvSpPr>
            <a:spLocks noGrp="1"/>
          </p:cNvSpPr>
          <p:nvPr>
            <p:ph sz="quarter" idx="13"/>
          </p:nvPr>
        </p:nvSpPr>
        <p:spPr>
          <a:xfrm>
            <a:off x="251520" y="1268760"/>
            <a:ext cx="8640960" cy="4857403"/>
          </a:xfrm>
        </p:spPr>
        <p:txBody>
          <a:bodyPr>
            <a:normAutofit/>
          </a:bodyPr>
          <a:lstStyle/>
          <a:p>
            <a:pPr algn="just"/>
            <a:r>
              <a:rPr lang="fr-FR" sz="1800" dirty="0">
                <a:latin typeface="Arial" panose="020B0604020202020204" pitchFamily="34" charset="0"/>
                <a:cs typeface="Arial" panose="020B0604020202020204" pitchFamily="34" charset="0"/>
              </a:rPr>
              <a:t>2. Suppression de la colonne </a:t>
            </a:r>
            <a:r>
              <a:rPr lang="fr-FR" sz="1800" b="1" dirty="0" err="1">
                <a:latin typeface="Arial" panose="020B0604020202020204" pitchFamily="34" charset="0"/>
                <a:cs typeface="Arial" panose="020B0604020202020204" pitchFamily="34" charset="0"/>
              </a:rPr>
              <a:t>id_client</a:t>
            </a:r>
            <a:r>
              <a:rPr lang="fr-FR" sz="1800" dirty="0">
                <a:latin typeface="Arial" panose="020B0604020202020204" pitchFamily="34" charset="0"/>
                <a:cs typeface="Arial" panose="020B0604020202020204" pitchFamily="34" charset="0"/>
              </a:rPr>
              <a:t> et la remplacer  </a:t>
            </a:r>
            <a:r>
              <a:rPr lang="fr-FR" sz="1800" dirty="0" smtClean="0">
                <a:latin typeface="Arial" panose="020B0604020202020204" pitchFamily="34" charset="0"/>
                <a:cs typeface="Arial" panose="020B0604020202020204" pitchFamily="34" charset="0"/>
              </a:rPr>
              <a:t>par </a:t>
            </a:r>
            <a:r>
              <a:rPr lang="fr-FR" sz="1800" dirty="0">
                <a:latin typeface="Arial" panose="020B0604020202020204" pitchFamily="34" charset="0"/>
                <a:cs typeface="Arial" panose="020B0604020202020204" pitchFamily="34" charset="0"/>
              </a:rPr>
              <a:t>un </a:t>
            </a:r>
            <a:r>
              <a:rPr lang="fr-FR" sz="1800" b="1" dirty="0" err="1">
                <a:latin typeface="Arial" panose="020B0604020202020204" pitchFamily="34" charset="0"/>
                <a:cs typeface="Arial" panose="020B0604020202020204" pitchFamily="34" charset="0"/>
              </a:rPr>
              <a:t>index_client</a:t>
            </a:r>
            <a:r>
              <a:rPr lang="fr-FR" sz="1800" dirty="0">
                <a:latin typeface="Arial" panose="020B0604020202020204" pitchFamily="34" charset="0"/>
                <a:cs typeface="Arial" panose="020B0604020202020204" pitchFamily="34" charset="0"/>
              </a:rPr>
              <a:t>  unique</a:t>
            </a:r>
            <a:r>
              <a:rPr lang="fr-FR" sz="1800" dirty="0" smtClean="0">
                <a:latin typeface="Arial" panose="020B0604020202020204" pitchFamily="34" charset="0"/>
                <a:cs typeface="Arial" panose="020B0604020202020204" pitchFamily="34" charset="0"/>
              </a:rPr>
              <a:t>.</a:t>
            </a:r>
          </a:p>
          <a:p>
            <a:pPr algn="just"/>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467544" y="1988840"/>
            <a:ext cx="8208912" cy="4464496"/>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7</a:t>
            </a:fld>
            <a:endParaRPr lang="fr-FR"/>
          </a:p>
        </p:txBody>
      </p:sp>
    </p:spTree>
    <p:extLst>
      <p:ext uri="{BB962C8B-B14F-4D97-AF65-F5344CB8AC3E}">
        <p14:creationId xmlns:p14="http://schemas.microsoft.com/office/powerpoint/2010/main" val="1489494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3596" y="332656"/>
            <a:ext cx="7924800" cy="634082"/>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dirty="0"/>
          </a:p>
        </p:txBody>
      </p:sp>
      <p:sp>
        <p:nvSpPr>
          <p:cNvPr id="3" name="Espace réservé du contenu 2"/>
          <p:cNvSpPr>
            <a:spLocks noGrp="1"/>
          </p:cNvSpPr>
          <p:nvPr>
            <p:ph sz="quarter" idx="13"/>
          </p:nvPr>
        </p:nvSpPr>
        <p:spPr>
          <a:xfrm>
            <a:off x="323528" y="1124744"/>
            <a:ext cx="8568952" cy="5256584"/>
          </a:xfrm>
        </p:spPr>
        <p:txBody>
          <a:bodyPr>
            <a:normAutofit/>
          </a:bodyPr>
          <a:lstStyle/>
          <a:p>
            <a:pPr marL="0" indent="0" algn="just">
              <a:buNone/>
            </a:pPr>
            <a:r>
              <a:rPr lang="fr-FR" sz="1800" dirty="0" smtClean="0">
                <a:latin typeface="Arial" panose="020B0604020202020204" pitchFamily="34" charset="0"/>
                <a:cs typeface="Arial" panose="020B0604020202020204" pitchFamily="34" charset="0"/>
              </a:rPr>
              <a:t>3. Suppression de la colonne </a:t>
            </a:r>
            <a:r>
              <a:rPr lang="fr-FR" sz="1800" b="1" dirty="0" smtClean="0">
                <a:latin typeface="Arial" panose="020B0604020202020204" pitchFamily="34" charset="0"/>
                <a:cs typeface="Arial" panose="020B0604020202020204" pitchFamily="34" charset="0"/>
              </a:rPr>
              <a:t>date de naissance</a:t>
            </a:r>
            <a:r>
              <a:rPr lang="fr-FR" sz="1800" dirty="0" smtClean="0">
                <a:latin typeface="Arial" panose="020B0604020202020204" pitchFamily="34" charset="0"/>
                <a:cs typeface="Arial" panose="020B0604020202020204" pitchFamily="34" charset="0"/>
              </a:rPr>
              <a:t> et la remplacer par la colonne </a:t>
            </a:r>
            <a:r>
              <a:rPr lang="fr-FR" sz="1800" b="1" dirty="0" smtClean="0">
                <a:latin typeface="Arial" panose="020B0604020202020204" pitchFamily="34" charset="0"/>
                <a:cs typeface="Arial" panose="020B0604020202020204" pitchFamily="34" charset="0"/>
              </a:rPr>
              <a:t>Age</a:t>
            </a:r>
            <a:r>
              <a:rPr lang="de-DE" sz="1800" dirty="0" smtClean="0">
                <a:latin typeface="Arial" panose="020B0604020202020204" pitchFamily="34" charset="0"/>
                <a:cs typeface="Arial" panose="020B0604020202020204" pitchFamily="34" charset="0"/>
              </a:rPr>
              <a:t>, </a:t>
            </a:r>
            <a:r>
              <a:rPr lang="fr-FR" sz="1800" dirty="0" smtClean="0">
                <a:latin typeface="Arial" panose="020B0604020202020204" pitchFamily="34" charset="0"/>
                <a:cs typeface="Arial" panose="020B0604020202020204" pitchFamily="34" charset="0"/>
              </a:rPr>
              <a:t>en utilisant la formule suivante: </a:t>
            </a:r>
          </a:p>
          <a:p>
            <a:pPr marL="0" indent="0" algn="just">
              <a:buNone/>
            </a:pPr>
            <a:r>
              <a:rPr lang="fr-FR" sz="1800" b="1" dirty="0" err="1" smtClean="0">
                <a:latin typeface="Arial" panose="020B0604020202020204" pitchFamily="34" charset="0"/>
                <a:cs typeface="Arial" panose="020B0604020202020204" pitchFamily="34" charset="0"/>
              </a:rPr>
              <a:t>Date.Year</a:t>
            </a:r>
            <a:r>
              <a:rPr lang="fr-FR" sz="1800" b="1" dirty="0" smtClean="0">
                <a:latin typeface="Arial" panose="020B0604020202020204" pitchFamily="34" charset="0"/>
                <a:cs typeface="Arial" panose="020B0604020202020204" pitchFamily="34" charset="0"/>
              </a:rPr>
              <a:t> (</a:t>
            </a:r>
            <a:r>
              <a:rPr lang="fr-FR" sz="1800" b="1" dirty="0" err="1" smtClean="0">
                <a:latin typeface="Arial" panose="020B0604020202020204" pitchFamily="34" charset="0"/>
                <a:cs typeface="Arial" panose="020B0604020202020204" pitchFamily="34" charset="0"/>
              </a:rPr>
              <a:t>DateTime.LocalNow</a:t>
            </a:r>
            <a:r>
              <a:rPr lang="fr-FR" sz="1800" b="1" dirty="0" smtClean="0">
                <a:latin typeface="Arial" panose="020B0604020202020204" pitchFamily="34" charset="0"/>
                <a:cs typeface="Arial" panose="020B0604020202020204" pitchFamily="34" charset="0"/>
              </a:rPr>
              <a:t>()) - </a:t>
            </a:r>
            <a:r>
              <a:rPr lang="fr-FR" sz="1800" b="1" dirty="0" err="1" smtClean="0">
                <a:latin typeface="Arial" panose="020B0604020202020204" pitchFamily="34" charset="0"/>
                <a:cs typeface="Arial" panose="020B0604020202020204" pitchFamily="34" charset="0"/>
              </a:rPr>
              <a:t>Date.Year</a:t>
            </a:r>
            <a:r>
              <a:rPr lang="fr-FR" sz="1800" b="1" dirty="0" smtClean="0">
                <a:latin typeface="Arial" panose="020B0604020202020204" pitchFamily="34" charset="0"/>
                <a:cs typeface="Arial" panose="020B0604020202020204" pitchFamily="34" charset="0"/>
              </a:rPr>
              <a:t> ([</a:t>
            </a:r>
            <a:r>
              <a:rPr lang="fr-FR" sz="1800" b="1" dirty="0" err="1" smtClean="0">
                <a:latin typeface="Arial" panose="020B0604020202020204" pitchFamily="34" charset="0"/>
                <a:cs typeface="Arial" panose="020B0604020202020204" pitchFamily="34" charset="0"/>
              </a:rPr>
              <a:t>date_naissance</a:t>
            </a:r>
            <a:r>
              <a:rPr lang="fr-FR" sz="1800" b="1" dirty="0" smtClean="0">
                <a:latin typeface="Arial" panose="020B0604020202020204" pitchFamily="34" charset="0"/>
                <a:cs typeface="Arial" panose="020B0604020202020204" pitchFamily="34" charset="0"/>
              </a:rPr>
              <a:t>])</a:t>
            </a:r>
          </a:p>
          <a:p>
            <a:pPr marL="0" indent="0" algn="just">
              <a:buNone/>
            </a:pPr>
            <a:endParaRPr lang="fr-FR" sz="1800" dirty="0" smtClean="0">
              <a:latin typeface="Arial" panose="020B0604020202020204" pitchFamily="34" charset="0"/>
              <a:cs typeface="Arial" panose="020B0604020202020204" pitchFamily="34" charset="0"/>
            </a:endParaRPr>
          </a:p>
          <a:p>
            <a:pPr algn="just"/>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323528" y="2492896"/>
            <a:ext cx="8424936" cy="3888432"/>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8</a:t>
            </a:fld>
            <a:endParaRPr lang="fr-FR"/>
          </a:p>
        </p:txBody>
      </p:sp>
    </p:spTree>
    <p:extLst>
      <p:ext uri="{BB962C8B-B14F-4D97-AF65-F5344CB8AC3E}">
        <p14:creationId xmlns:p14="http://schemas.microsoft.com/office/powerpoint/2010/main" val="30361945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3596" y="332656"/>
            <a:ext cx="7924800" cy="724942"/>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dirty="0"/>
          </a:p>
        </p:txBody>
      </p:sp>
      <p:sp>
        <p:nvSpPr>
          <p:cNvPr id="3" name="Espace réservé du contenu 2"/>
          <p:cNvSpPr>
            <a:spLocks noGrp="1"/>
          </p:cNvSpPr>
          <p:nvPr>
            <p:ph sz="quarter" idx="13"/>
          </p:nvPr>
        </p:nvSpPr>
        <p:spPr>
          <a:xfrm>
            <a:off x="573596" y="1268760"/>
            <a:ext cx="7924800" cy="4114800"/>
          </a:xfrm>
        </p:spPr>
        <p:txBody>
          <a:bodyPr>
            <a:normAutofit/>
          </a:bodyPr>
          <a:lstStyle/>
          <a:p>
            <a:pPr marL="0" indent="0" algn="just">
              <a:buNone/>
            </a:pPr>
            <a:r>
              <a:rPr lang="fr-FR" sz="1800" dirty="0">
                <a:latin typeface="Arial" panose="020B0604020202020204" pitchFamily="34" charset="0"/>
                <a:cs typeface="Arial" panose="020B0604020202020204" pitchFamily="34" charset="0"/>
              </a:rPr>
              <a:t>4. Suppression de la colonne </a:t>
            </a:r>
            <a:r>
              <a:rPr lang="fr-FR" sz="1800" dirty="0" err="1">
                <a:latin typeface="Arial" panose="020B0604020202020204" pitchFamily="34" charset="0"/>
                <a:cs typeface="Arial" panose="020B0604020202020204" pitchFamily="34" charset="0"/>
              </a:rPr>
              <a:t>nombre_enfants</a:t>
            </a:r>
            <a:r>
              <a:rPr lang="fr-FR" sz="1800" dirty="0">
                <a:latin typeface="Arial" panose="020B0604020202020204" pitchFamily="34" charset="0"/>
                <a:cs typeface="Arial" panose="020B0604020202020204" pitchFamily="34" charset="0"/>
              </a:rPr>
              <a:t> et la remplacer par la colonne </a:t>
            </a:r>
            <a:r>
              <a:rPr lang="fr-FR" sz="1800" dirty="0" err="1">
                <a:latin typeface="Arial" panose="020B0604020202020204" pitchFamily="34" charset="0"/>
                <a:cs typeface="Arial" panose="020B0604020202020204" pitchFamily="34" charset="0"/>
              </a:rPr>
              <a:t>Présence_enfant</a:t>
            </a:r>
            <a:r>
              <a:rPr lang="fr-FR" sz="1800" dirty="0">
                <a:latin typeface="Arial" panose="020B0604020202020204" pitchFamily="34" charset="0"/>
                <a:cs typeface="Arial" panose="020B0604020202020204" pitchFamily="34" charset="0"/>
              </a:rPr>
              <a:t>, en utilisant la formule suivante</a:t>
            </a:r>
            <a:r>
              <a:rPr lang="fr-FR" sz="1800" dirty="0" smtClean="0">
                <a:latin typeface="Arial" panose="020B0604020202020204" pitchFamily="34" charset="0"/>
                <a:cs typeface="Arial" panose="020B0604020202020204" pitchFamily="34" charset="0"/>
              </a:rPr>
              <a:t>:</a:t>
            </a:r>
            <a:endParaRPr lang="fr-FR" sz="1800" dirty="0">
              <a:latin typeface="Arial" panose="020B0604020202020204" pitchFamily="34" charset="0"/>
              <a:cs typeface="Arial" panose="020B0604020202020204" pitchFamily="34" charset="0"/>
            </a:endParaRPr>
          </a:p>
          <a:p>
            <a:pPr marL="0" indent="0" algn="just">
              <a:buNone/>
            </a:pPr>
            <a:r>
              <a:rPr lang="fr-FR" sz="1800" b="1" dirty="0">
                <a:latin typeface="Arial" panose="020B0604020202020204" pitchFamily="34" charset="0"/>
                <a:cs typeface="Arial" panose="020B0604020202020204" pitchFamily="34" charset="0"/>
              </a:rPr>
              <a:t>if [</a:t>
            </a:r>
            <a:r>
              <a:rPr lang="fr-FR" sz="1800" b="1" dirty="0" err="1">
                <a:latin typeface="Arial" panose="020B0604020202020204" pitchFamily="34" charset="0"/>
                <a:cs typeface="Arial" panose="020B0604020202020204" pitchFamily="34" charset="0"/>
              </a:rPr>
              <a:t>nombre_enfants</a:t>
            </a:r>
            <a:r>
              <a:rPr lang="fr-FR" sz="1800" b="1" dirty="0">
                <a:latin typeface="Arial" panose="020B0604020202020204" pitchFamily="34" charset="0"/>
                <a:cs typeface="Arial" panose="020B0604020202020204" pitchFamily="34" charset="0"/>
              </a:rPr>
              <a:t>] &gt; 0 </a:t>
            </a:r>
            <a:r>
              <a:rPr lang="fr-FR" sz="1800" b="1" dirty="0" err="1">
                <a:latin typeface="Arial" panose="020B0604020202020204" pitchFamily="34" charset="0"/>
                <a:cs typeface="Arial" panose="020B0604020202020204" pitchFamily="34" charset="0"/>
              </a:rPr>
              <a:t>then</a:t>
            </a:r>
            <a:r>
              <a:rPr lang="fr-FR" sz="1800" b="1" dirty="0">
                <a:latin typeface="Arial" panose="020B0604020202020204" pitchFamily="34" charset="0"/>
                <a:cs typeface="Arial" panose="020B0604020202020204" pitchFamily="34" charset="0"/>
              </a:rPr>
              <a:t> "Oui" </a:t>
            </a:r>
            <a:r>
              <a:rPr lang="fr-FR" sz="1800" b="1" dirty="0" err="1">
                <a:latin typeface="Arial" panose="020B0604020202020204" pitchFamily="34" charset="0"/>
                <a:cs typeface="Arial" panose="020B0604020202020204" pitchFamily="34" charset="0"/>
              </a:rPr>
              <a:t>else</a:t>
            </a:r>
            <a:r>
              <a:rPr lang="fr-FR" sz="1800" b="1" dirty="0">
                <a:latin typeface="Arial" panose="020B0604020202020204" pitchFamily="34" charset="0"/>
                <a:cs typeface="Arial" panose="020B0604020202020204" pitchFamily="34" charset="0"/>
              </a:rPr>
              <a:t> "Non"</a:t>
            </a:r>
            <a:endParaRPr lang="fr-FR" sz="1800" dirty="0">
              <a:latin typeface="Arial" panose="020B0604020202020204" pitchFamily="34" charset="0"/>
              <a:cs typeface="Arial" panose="020B0604020202020204" pitchFamily="34" charset="0"/>
            </a:endParaRPr>
          </a:p>
          <a:p>
            <a:pPr algn="just"/>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251520" y="2492896"/>
            <a:ext cx="8568952" cy="3888432"/>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9</a:t>
            </a:fld>
            <a:endParaRPr lang="fr-FR"/>
          </a:p>
        </p:txBody>
      </p:sp>
    </p:spTree>
    <p:extLst>
      <p:ext uri="{BB962C8B-B14F-4D97-AF65-F5344CB8AC3E}">
        <p14:creationId xmlns:p14="http://schemas.microsoft.com/office/powerpoint/2010/main" val="10118612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5604" y="332656"/>
            <a:ext cx="7924800" cy="652934"/>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dirty="0"/>
          </a:p>
        </p:txBody>
      </p:sp>
      <p:sp>
        <p:nvSpPr>
          <p:cNvPr id="3" name="Espace réservé du contenu 2"/>
          <p:cNvSpPr>
            <a:spLocks noGrp="1"/>
          </p:cNvSpPr>
          <p:nvPr>
            <p:ph sz="quarter" idx="13"/>
          </p:nvPr>
        </p:nvSpPr>
        <p:spPr>
          <a:xfrm>
            <a:off x="645604" y="1196752"/>
            <a:ext cx="7924800" cy="4114800"/>
          </a:xfrm>
        </p:spPr>
        <p:txBody>
          <a:bodyPr>
            <a:normAutofit/>
          </a:bodyPr>
          <a:lstStyle/>
          <a:p>
            <a:pPr marL="0" indent="0" algn="just">
              <a:buNone/>
            </a:pPr>
            <a:r>
              <a:rPr lang="fr-FR" sz="1800" dirty="0">
                <a:latin typeface="Arial" panose="020B0604020202020204" pitchFamily="34" charset="0"/>
                <a:cs typeface="Arial" panose="020B0604020202020204" pitchFamily="34" charset="0"/>
              </a:rPr>
              <a:t>5. Suppression de la colonne </a:t>
            </a:r>
            <a:r>
              <a:rPr lang="fr-FR" sz="1800" b="1" dirty="0" err="1">
                <a:latin typeface="Arial" panose="020B0604020202020204" pitchFamily="34" charset="0"/>
                <a:cs typeface="Arial" panose="020B0604020202020204" pitchFamily="34" charset="0"/>
              </a:rPr>
              <a:t>enfant_conduite_accompagne</a:t>
            </a:r>
            <a:r>
              <a:rPr lang="fr-FR" sz="1800" dirty="0">
                <a:latin typeface="Arial" panose="020B0604020202020204" pitchFamily="34" charset="0"/>
                <a:cs typeface="Arial" panose="020B0604020202020204" pitchFamily="34" charset="0"/>
              </a:rPr>
              <a:t> et la remplacer par la colonne </a:t>
            </a:r>
            <a:r>
              <a:rPr lang="fr-FR" sz="1800" b="1" dirty="0" err="1">
                <a:latin typeface="Arial" panose="020B0604020202020204" pitchFamily="34" charset="0"/>
                <a:cs typeface="Arial" panose="020B0604020202020204" pitchFamily="34" charset="0"/>
              </a:rPr>
              <a:t>Présence_conduite_accompagnee</a:t>
            </a:r>
            <a:r>
              <a:rPr lang="fr-FR" sz="1800" dirty="0">
                <a:latin typeface="Arial" panose="020B0604020202020204" pitchFamily="34" charset="0"/>
                <a:cs typeface="Arial" panose="020B0604020202020204" pitchFamily="34" charset="0"/>
              </a:rPr>
              <a:t>, en utilisant la formule suivante</a:t>
            </a:r>
            <a:r>
              <a:rPr lang="fr-FR" sz="1800" dirty="0" smtClean="0">
                <a:latin typeface="Arial" panose="020B0604020202020204" pitchFamily="34" charset="0"/>
                <a:cs typeface="Arial" panose="020B0604020202020204" pitchFamily="34" charset="0"/>
              </a:rPr>
              <a:t>:</a:t>
            </a:r>
            <a:endParaRPr lang="fr-FR" sz="1800" dirty="0">
              <a:latin typeface="Arial" panose="020B0604020202020204" pitchFamily="34" charset="0"/>
              <a:cs typeface="Arial" panose="020B0604020202020204" pitchFamily="34" charset="0"/>
            </a:endParaRPr>
          </a:p>
          <a:p>
            <a:pPr marL="0" indent="0" algn="just">
              <a:buNone/>
            </a:pPr>
            <a:r>
              <a:rPr lang="fr-FR" sz="1800" b="1" dirty="0">
                <a:latin typeface="Arial" panose="020B0604020202020204" pitchFamily="34" charset="0"/>
                <a:cs typeface="Arial" panose="020B0604020202020204" pitchFamily="34" charset="0"/>
              </a:rPr>
              <a:t>if [</a:t>
            </a:r>
            <a:r>
              <a:rPr lang="fr-FR" sz="1800" b="1" dirty="0" err="1">
                <a:latin typeface="Arial" panose="020B0604020202020204" pitchFamily="34" charset="0"/>
                <a:cs typeface="Arial" panose="020B0604020202020204" pitchFamily="34" charset="0"/>
              </a:rPr>
              <a:t>enfant_conduite_accompagne</a:t>
            </a:r>
            <a:r>
              <a:rPr lang="fr-FR" sz="1800" b="1" dirty="0">
                <a:latin typeface="Arial" panose="020B0604020202020204" pitchFamily="34" charset="0"/>
                <a:cs typeface="Arial" panose="020B0604020202020204" pitchFamily="34" charset="0"/>
              </a:rPr>
              <a:t>] &gt; 0 </a:t>
            </a:r>
            <a:r>
              <a:rPr lang="fr-FR" sz="1800" b="1" dirty="0" err="1">
                <a:latin typeface="Arial" panose="020B0604020202020204" pitchFamily="34" charset="0"/>
                <a:cs typeface="Arial" panose="020B0604020202020204" pitchFamily="34" charset="0"/>
              </a:rPr>
              <a:t>then</a:t>
            </a:r>
            <a:r>
              <a:rPr lang="fr-FR" sz="1800" b="1" dirty="0">
                <a:latin typeface="Arial" panose="020B0604020202020204" pitchFamily="34" charset="0"/>
                <a:cs typeface="Arial" panose="020B0604020202020204" pitchFamily="34" charset="0"/>
              </a:rPr>
              <a:t> "Oui" </a:t>
            </a:r>
            <a:r>
              <a:rPr lang="fr-FR" sz="1800" b="1" dirty="0" err="1">
                <a:latin typeface="Arial" panose="020B0604020202020204" pitchFamily="34" charset="0"/>
                <a:cs typeface="Arial" panose="020B0604020202020204" pitchFamily="34" charset="0"/>
              </a:rPr>
              <a:t>else</a:t>
            </a:r>
            <a:r>
              <a:rPr lang="fr-FR" sz="1800" b="1" dirty="0">
                <a:latin typeface="Arial" panose="020B0604020202020204" pitchFamily="34" charset="0"/>
                <a:cs typeface="Arial" panose="020B0604020202020204" pitchFamily="34" charset="0"/>
              </a:rPr>
              <a:t> "Non"</a:t>
            </a:r>
            <a:endParaRPr lang="fr-FR" sz="1800" dirty="0">
              <a:latin typeface="Arial" panose="020B0604020202020204" pitchFamily="34" charset="0"/>
              <a:cs typeface="Arial" panose="020B0604020202020204" pitchFamily="34" charset="0"/>
            </a:endParaRPr>
          </a:p>
          <a:p>
            <a:pPr marL="0" indent="0" algn="just">
              <a:buNone/>
            </a:pPr>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251520" y="2636912"/>
            <a:ext cx="8712968" cy="3672408"/>
          </a:xfrm>
          <a:prstGeom prst="rect">
            <a:avLst/>
          </a:prstGeom>
        </p:spPr>
      </p:pic>
      <p:sp>
        <p:nvSpPr>
          <p:cNvPr id="6" name="Espace réservé du numéro de diapositive 5"/>
          <p:cNvSpPr>
            <a:spLocks noGrp="1"/>
          </p:cNvSpPr>
          <p:nvPr>
            <p:ph type="sldNum" sz="quarter" idx="12"/>
          </p:nvPr>
        </p:nvSpPr>
        <p:spPr/>
        <p:txBody>
          <a:bodyPr/>
          <a:lstStyle/>
          <a:p>
            <a:fld id="{ED7C5483-BB9D-4EF4-A8A5-8F41CA8E1BF3}" type="slidenum">
              <a:rPr lang="fr-FR" smtClean="0"/>
              <a:t>10</a:t>
            </a:fld>
            <a:endParaRPr lang="fr-FR"/>
          </a:p>
        </p:txBody>
      </p:sp>
    </p:spTree>
    <p:extLst>
      <p:ext uri="{BB962C8B-B14F-4D97-AF65-F5344CB8AC3E}">
        <p14:creationId xmlns:p14="http://schemas.microsoft.com/office/powerpoint/2010/main" val="1666904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692696"/>
            <a:ext cx="8229600" cy="710952"/>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dirty="0"/>
          </a:p>
        </p:txBody>
      </p:sp>
      <p:sp>
        <p:nvSpPr>
          <p:cNvPr id="3" name="Espace réservé du contenu 2"/>
          <p:cNvSpPr>
            <a:spLocks noGrp="1"/>
          </p:cNvSpPr>
          <p:nvPr>
            <p:ph sz="quarter" idx="13"/>
          </p:nvPr>
        </p:nvSpPr>
        <p:spPr>
          <a:xfrm>
            <a:off x="467544" y="2204864"/>
            <a:ext cx="8229600" cy="3240359"/>
          </a:xfrm>
        </p:spPr>
        <p:txBody>
          <a:bodyPr>
            <a:noAutofit/>
          </a:bodyPr>
          <a:lstStyle/>
          <a:p>
            <a:pPr marL="0" indent="0" algn="just">
              <a:buNone/>
            </a:pPr>
            <a:r>
              <a:rPr lang="fr-FR" sz="1800" dirty="0">
                <a:latin typeface="Arial" panose="020B0604020202020204" pitchFamily="34" charset="0"/>
                <a:cs typeface="Arial" panose="020B0604020202020204" pitchFamily="34" charset="0"/>
              </a:rPr>
              <a:t>6. Suppression de la colonne </a:t>
            </a:r>
            <a:r>
              <a:rPr lang="fr-FR" sz="1800" b="1" dirty="0">
                <a:latin typeface="Arial" panose="020B0604020202020204" pitchFamily="34" charset="0"/>
                <a:cs typeface="Arial" panose="020B0604020202020204" pitchFamily="34" charset="0"/>
              </a:rPr>
              <a:t>revenus </a:t>
            </a:r>
            <a:r>
              <a:rPr lang="fr-FR" sz="1800" dirty="0">
                <a:latin typeface="Arial" panose="020B0604020202020204" pitchFamily="34" charset="0"/>
                <a:cs typeface="Arial" panose="020B0604020202020204" pitchFamily="34" charset="0"/>
              </a:rPr>
              <a:t>et la remplacer par la colonne </a:t>
            </a:r>
            <a:r>
              <a:rPr lang="fr-FR" sz="1800" b="1" dirty="0" err="1">
                <a:latin typeface="Arial" panose="020B0604020202020204" pitchFamily="34" charset="0"/>
                <a:cs typeface="Arial" panose="020B0604020202020204" pitchFamily="34" charset="0"/>
              </a:rPr>
              <a:t>Tranche_revenus</a:t>
            </a:r>
            <a:r>
              <a:rPr lang="fr-FR" sz="1800" dirty="0">
                <a:latin typeface="Arial" panose="020B0604020202020204" pitchFamily="34" charset="0"/>
                <a:cs typeface="Arial" panose="020B0604020202020204" pitchFamily="34" charset="0"/>
              </a:rPr>
              <a:t>, en utilisant la formule suivante :   </a:t>
            </a:r>
          </a:p>
          <a:p>
            <a:pPr algn="just"/>
            <a:r>
              <a:rPr lang="en-US" sz="1800" b="1" dirty="0">
                <a:latin typeface="Arial" panose="020B0604020202020204" pitchFamily="34" charset="0"/>
                <a:cs typeface="Arial" panose="020B0604020202020204" pitchFamily="34" charset="0"/>
              </a:rPr>
              <a:t>if [</a:t>
            </a:r>
            <a:r>
              <a:rPr lang="en-US" sz="1800" b="1" dirty="0" err="1">
                <a:latin typeface="Arial" panose="020B0604020202020204" pitchFamily="34" charset="0"/>
                <a:cs typeface="Arial" panose="020B0604020202020204" pitchFamily="34" charset="0"/>
              </a:rPr>
              <a:t>revenus</a:t>
            </a:r>
            <a:r>
              <a:rPr lang="en-US" sz="1800" b="1" dirty="0">
                <a:latin typeface="Arial" panose="020B0604020202020204" pitchFamily="34" charset="0"/>
                <a:cs typeface="Arial" panose="020B0604020202020204" pitchFamily="34" charset="0"/>
              </a:rPr>
              <a:t>] &lt; 20000 then "[0-20k€]"</a:t>
            </a:r>
            <a:endParaRPr lang="fr-FR" sz="1800" dirty="0">
              <a:latin typeface="Arial" panose="020B0604020202020204" pitchFamily="34" charset="0"/>
              <a:cs typeface="Arial" panose="020B0604020202020204" pitchFamily="34" charset="0"/>
            </a:endParaRPr>
          </a:p>
          <a:p>
            <a:pPr algn="just"/>
            <a:r>
              <a:rPr lang="en-US" sz="1800" b="1" dirty="0">
                <a:latin typeface="Arial" panose="020B0604020202020204" pitchFamily="34" charset="0"/>
                <a:cs typeface="Arial" panose="020B0604020202020204" pitchFamily="34" charset="0"/>
              </a:rPr>
              <a:t>else if [</a:t>
            </a:r>
            <a:r>
              <a:rPr lang="en-US" sz="1800" b="1" dirty="0" err="1">
                <a:latin typeface="Arial" panose="020B0604020202020204" pitchFamily="34" charset="0"/>
                <a:cs typeface="Arial" panose="020B0604020202020204" pitchFamily="34" charset="0"/>
              </a:rPr>
              <a:t>revenus</a:t>
            </a:r>
            <a:r>
              <a:rPr lang="en-US" sz="1800" b="1" dirty="0">
                <a:latin typeface="Arial" panose="020B0604020202020204" pitchFamily="34" charset="0"/>
                <a:cs typeface="Arial" panose="020B0604020202020204" pitchFamily="34" charset="0"/>
              </a:rPr>
              <a:t>] &lt; 40000 then "[20k-40k€]"</a:t>
            </a:r>
            <a:endParaRPr lang="fr-FR" sz="1800" dirty="0">
              <a:latin typeface="Arial" panose="020B0604020202020204" pitchFamily="34" charset="0"/>
              <a:cs typeface="Arial" panose="020B0604020202020204" pitchFamily="34" charset="0"/>
            </a:endParaRPr>
          </a:p>
          <a:p>
            <a:pPr algn="just"/>
            <a:r>
              <a:rPr lang="en-US" sz="1800" b="1" dirty="0">
                <a:latin typeface="Arial" panose="020B0604020202020204" pitchFamily="34" charset="0"/>
                <a:cs typeface="Arial" panose="020B0604020202020204" pitchFamily="34" charset="0"/>
              </a:rPr>
              <a:t>else if [</a:t>
            </a:r>
            <a:r>
              <a:rPr lang="en-US" sz="1800" b="1" dirty="0" err="1">
                <a:latin typeface="Arial" panose="020B0604020202020204" pitchFamily="34" charset="0"/>
                <a:cs typeface="Arial" panose="020B0604020202020204" pitchFamily="34" charset="0"/>
              </a:rPr>
              <a:t>revenus</a:t>
            </a:r>
            <a:r>
              <a:rPr lang="en-US" sz="1800" b="1" dirty="0">
                <a:latin typeface="Arial" panose="020B0604020202020204" pitchFamily="34" charset="0"/>
                <a:cs typeface="Arial" panose="020B0604020202020204" pitchFamily="34" charset="0"/>
              </a:rPr>
              <a:t>] &lt; 60000 then "[40k-60k€]"</a:t>
            </a:r>
            <a:endParaRPr lang="fr-FR" sz="1800" dirty="0">
              <a:latin typeface="Arial" panose="020B0604020202020204" pitchFamily="34" charset="0"/>
              <a:cs typeface="Arial" panose="020B0604020202020204" pitchFamily="34" charset="0"/>
            </a:endParaRPr>
          </a:p>
          <a:p>
            <a:pPr algn="just"/>
            <a:r>
              <a:rPr lang="en-US" sz="1800" b="1" dirty="0">
                <a:latin typeface="Arial" panose="020B0604020202020204" pitchFamily="34" charset="0"/>
                <a:cs typeface="Arial" panose="020B0604020202020204" pitchFamily="34" charset="0"/>
              </a:rPr>
              <a:t>else if [</a:t>
            </a:r>
            <a:r>
              <a:rPr lang="en-US" sz="1800" b="1" dirty="0" err="1">
                <a:latin typeface="Arial" panose="020B0604020202020204" pitchFamily="34" charset="0"/>
                <a:cs typeface="Arial" panose="020B0604020202020204" pitchFamily="34" charset="0"/>
              </a:rPr>
              <a:t>revenus</a:t>
            </a:r>
            <a:r>
              <a:rPr lang="en-US" sz="1800" b="1" dirty="0">
                <a:latin typeface="Arial" panose="020B0604020202020204" pitchFamily="34" charset="0"/>
                <a:cs typeface="Arial" panose="020B0604020202020204" pitchFamily="34" charset="0"/>
              </a:rPr>
              <a:t>] &lt; 80000 then "[60k-80k€]"</a:t>
            </a:r>
            <a:endParaRPr lang="fr-FR" sz="1800" dirty="0">
              <a:latin typeface="Arial" panose="020B0604020202020204" pitchFamily="34" charset="0"/>
              <a:cs typeface="Arial" panose="020B0604020202020204" pitchFamily="34" charset="0"/>
            </a:endParaRPr>
          </a:p>
          <a:p>
            <a:pPr algn="just"/>
            <a:r>
              <a:rPr lang="en-US" sz="1800" b="1" dirty="0">
                <a:latin typeface="Arial" panose="020B0604020202020204" pitchFamily="34" charset="0"/>
                <a:cs typeface="Arial" panose="020B0604020202020204" pitchFamily="34" charset="0"/>
              </a:rPr>
              <a:t>else if [</a:t>
            </a:r>
            <a:r>
              <a:rPr lang="en-US" sz="1800" b="1" dirty="0" err="1">
                <a:latin typeface="Arial" panose="020B0604020202020204" pitchFamily="34" charset="0"/>
                <a:cs typeface="Arial" panose="020B0604020202020204" pitchFamily="34" charset="0"/>
              </a:rPr>
              <a:t>revenus</a:t>
            </a:r>
            <a:r>
              <a:rPr lang="en-US" sz="1800" b="1" dirty="0">
                <a:latin typeface="Arial" panose="020B0604020202020204" pitchFamily="34" charset="0"/>
                <a:cs typeface="Arial" panose="020B0604020202020204" pitchFamily="34" charset="0"/>
              </a:rPr>
              <a:t>] &lt; 100000 then "[80k-100k€]"</a:t>
            </a:r>
            <a:endParaRPr lang="fr-FR" sz="1800" dirty="0">
              <a:latin typeface="Arial" panose="020B0604020202020204" pitchFamily="34" charset="0"/>
              <a:cs typeface="Arial" panose="020B0604020202020204" pitchFamily="34" charset="0"/>
            </a:endParaRPr>
          </a:p>
          <a:p>
            <a:pPr algn="just"/>
            <a:r>
              <a:rPr lang="fr-FR" sz="1800" b="1" dirty="0" err="1">
                <a:latin typeface="Arial" panose="020B0604020202020204" pitchFamily="34" charset="0"/>
                <a:cs typeface="Arial" panose="020B0604020202020204" pitchFamily="34" charset="0"/>
              </a:rPr>
              <a:t>else</a:t>
            </a:r>
            <a:r>
              <a:rPr lang="fr-FR" sz="1800" b="1" dirty="0">
                <a:latin typeface="Arial" panose="020B0604020202020204" pitchFamily="34" charset="0"/>
                <a:cs typeface="Arial" panose="020B0604020202020204" pitchFamily="34" charset="0"/>
              </a:rPr>
              <a:t> "[100k+€]"</a:t>
            </a:r>
            <a:endParaRPr lang="fr-FR" sz="1800" dirty="0">
              <a:latin typeface="Arial" panose="020B0604020202020204" pitchFamily="34" charset="0"/>
              <a:cs typeface="Arial" panose="020B0604020202020204" pitchFamily="34" charset="0"/>
            </a:endParaRPr>
          </a:p>
          <a:p>
            <a:pPr marL="0" indent="0" algn="just">
              <a:buNone/>
            </a:pPr>
            <a:endParaRPr lang="fr-FR" sz="1800" dirty="0">
              <a:latin typeface="Arial" panose="020B0604020202020204" pitchFamily="34" charset="0"/>
              <a:cs typeface="Arial" panose="020B0604020202020204" pitchFamily="34" charset="0"/>
            </a:endParaRPr>
          </a:p>
          <a:p>
            <a:pPr algn="just"/>
            <a:endParaRPr lang="fr-FR" sz="1800"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11</a:t>
            </a:fld>
            <a:endParaRPr lang="fr-FR"/>
          </a:p>
        </p:txBody>
      </p:sp>
    </p:spTree>
    <p:extLst>
      <p:ext uri="{BB962C8B-B14F-4D97-AF65-F5344CB8AC3E}">
        <p14:creationId xmlns:p14="http://schemas.microsoft.com/office/powerpoint/2010/main" val="40694759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a:blip r:embed="rId2"/>
          <a:stretch>
            <a:fillRect/>
          </a:stretch>
        </p:blipFill>
        <p:spPr>
          <a:xfrm>
            <a:off x="467544" y="404664"/>
            <a:ext cx="8352928" cy="6048671"/>
          </a:xfrm>
          <a:prstGeom prst="rect">
            <a:avLst/>
          </a:prstGeom>
        </p:spPr>
      </p:pic>
      <p:sp>
        <p:nvSpPr>
          <p:cNvPr id="3" name="Espace réservé du numéro de diapositive 2"/>
          <p:cNvSpPr>
            <a:spLocks noGrp="1"/>
          </p:cNvSpPr>
          <p:nvPr>
            <p:ph type="sldNum" sz="quarter" idx="12"/>
          </p:nvPr>
        </p:nvSpPr>
        <p:spPr/>
        <p:txBody>
          <a:bodyPr/>
          <a:lstStyle/>
          <a:p>
            <a:fld id="{ED7C5483-BB9D-4EF4-A8A5-8F41CA8E1BF3}" type="slidenum">
              <a:rPr lang="fr-FR" smtClean="0"/>
              <a:t>12</a:t>
            </a:fld>
            <a:endParaRPr lang="fr-FR"/>
          </a:p>
        </p:txBody>
      </p:sp>
    </p:spTree>
    <p:extLst>
      <p:ext uri="{BB962C8B-B14F-4D97-AF65-F5344CB8AC3E}">
        <p14:creationId xmlns:p14="http://schemas.microsoft.com/office/powerpoint/2010/main" val="40267440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457198" y="260648"/>
            <a:ext cx="8229600" cy="360040"/>
          </a:xfrm>
        </p:spPr>
        <p:txBody>
          <a:bodyPr>
            <a:noAutofit/>
          </a:bodyPr>
          <a:lstStyle/>
          <a:p>
            <a:pPr marL="0" indent="0">
              <a:buNone/>
            </a:pPr>
            <a:r>
              <a:rPr lang="fr-FR" sz="1800" dirty="0">
                <a:latin typeface="Arial" panose="020B0604020202020204" pitchFamily="34" charset="0"/>
                <a:cs typeface="Arial" panose="020B0604020202020204" pitchFamily="34" charset="0"/>
              </a:rPr>
              <a:t> </a:t>
            </a:r>
            <a:r>
              <a:rPr lang="fr-FR" sz="1800" dirty="0" smtClean="0">
                <a:latin typeface="Arial" panose="020B0604020202020204" pitchFamily="34" charset="0"/>
                <a:cs typeface="Arial" panose="020B0604020202020204" pitchFamily="34" charset="0"/>
              </a:rPr>
              <a:t>Après</a:t>
            </a:r>
            <a:r>
              <a:rPr lang="fr-FR" sz="1800" dirty="0">
                <a:latin typeface="Arial" panose="020B0604020202020204" pitchFamily="34" charset="0"/>
                <a:cs typeface="Arial" panose="020B0604020202020204" pitchFamily="34" charset="0"/>
              </a:rPr>
              <a:t>, on supprime les erreurs, et ça donne :</a:t>
            </a:r>
          </a:p>
          <a:p>
            <a:pPr marL="0" indent="0">
              <a:buNone/>
            </a:pPr>
            <a:endParaRPr lang="fr-FR" sz="1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323528" y="764704"/>
            <a:ext cx="8496943" cy="5616624"/>
          </a:xfrm>
          <a:prstGeom prst="rect">
            <a:avLst/>
          </a:prstGeom>
        </p:spPr>
      </p:pic>
      <p:sp>
        <p:nvSpPr>
          <p:cNvPr id="5" name="Espace réservé du numéro de diapositive 4"/>
          <p:cNvSpPr>
            <a:spLocks noGrp="1"/>
          </p:cNvSpPr>
          <p:nvPr>
            <p:ph type="sldNum" sz="quarter" idx="12"/>
          </p:nvPr>
        </p:nvSpPr>
        <p:spPr/>
        <p:txBody>
          <a:bodyPr/>
          <a:lstStyle/>
          <a:p>
            <a:fld id="{ED7C5483-BB9D-4EF4-A8A5-8F41CA8E1BF3}" type="slidenum">
              <a:rPr lang="fr-FR" smtClean="0"/>
              <a:t>13</a:t>
            </a:fld>
            <a:endParaRPr lang="fr-FR"/>
          </a:p>
        </p:txBody>
      </p:sp>
    </p:spTree>
    <p:extLst>
      <p:ext uri="{BB962C8B-B14F-4D97-AF65-F5344CB8AC3E}">
        <p14:creationId xmlns:p14="http://schemas.microsoft.com/office/powerpoint/2010/main" val="32772117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1560" y="332656"/>
            <a:ext cx="7924800" cy="724942"/>
          </a:xfrm>
        </p:spPr>
        <p:txBody>
          <a:bodyPr>
            <a:normAutofit/>
          </a:bodyPr>
          <a:lstStyle/>
          <a:p>
            <a:pPr algn="ctr"/>
            <a:r>
              <a:rPr lang="fr-FR" sz="2000" b="1" dirty="0" smtClean="0">
                <a:latin typeface="Arial" panose="020B0604020202020204" pitchFamily="34" charset="0"/>
                <a:cs typeface="Arial" panose="020B0604020202020204" pitchFamily="34" charset="0"/>
              </a:rPr>
              <a:t> Les traitements effectués sur le jeu de données pour le rendre compatible avec le RGPD</a:t>
            </a:r>
            <a:endParaRPr lang="fr-FR" sz="2000" dirty="0"/>
          </a:p>
        </p:txBody>
      </p:sp>
      <p:sp>
        <p:nvSpPr>
          <p:cNvPr id="3" name="Espace réservé du contenu 2"/>
          <p:cNvSpPr>
            <a:spLocks noGrp="1"/>
          </p:cNvSpPr>
          <p:nvPr>
            <p:ph sz="quarter" idx="13"/>
          </p:nvPr>
        </p:nvSpPr>
        <p:spPr>
          <a:xfrm>
            <a:off x="609600" y="1600200"/>
            <a:ext cx="7924800" cy="4637112"/>
          </a:xfrm>
        </p:spPr>
        <p:txBody>
          <a:bodyPr>
            <a:noAutofit/>
          </a:bodyPr>
          <a:lstStyle/>
          <a:p>
            <a:pPr marL="0" indent="0" algn="just">
              <a:buNone/>
            </a:pPr>
            <a:r>
              <a:rPr lang="fr-FR" dirty="0">
                <a:latin typeface="Arial" panose="020B0604020202020204" pitchFamily="34" charset="0"/>
                <a:cs typeface="Arial" panose="020B0604020202020204" pitchFamily="34" charset="0"/>
              </a:rPr>
              <a:t>7. Suppression de la colonne </a:t>
            </a:r>
            <a:r>
              <a:rPr lang="fr-FR" b="1" dirty="0" err="1">
                <a:latin typeface="Arial" panose="020B0604020202020204" pitchFamily="34" charset="0"/>
                <a:cs typeface="Arial" panose="020B0604020202020204" pitchFamily="34" charset="0"/>
              </a:rPr>
              <a:t>tarif_devis</a:t>
            </a:r>
            <a:r>
              <a:rPr lang="fr-FR" dirty="0">
                <a:latin typeface="Arial" panose="020B0604020202020204" pitchFamily="34" charset="0"/>
                <a:cs typeface="Arial" panose="020B0604020202020204" pitchFamily="34" charset="0"/>
              </a:rPr>
              <a:t> et la remplacer par la colonne </a:t>
            </a:r>
            <a:r>
              <a:rPr lang="fr-FR" b="1" dirty="0" err="1">
                <a:latin typeface="Arial" panose="020B0604020202020204" pitchFamily="34" charset="0"/>
                <a:cs typeface="Arial" panose="020B0604020202020204" pitchFamily="34" charset="0"/>
              </a:rPr>
              <a:t>intervalle_devis</a:t>
            </a:r>
            <a:r>
              <a:rPr lang="fr-FR" dirty="0">
                <a:latin typeface="Arial" panose="020B0604020202020204" pitchFamily="34" charset="0"/>
                <a:cs typeface="Arial" panose="020B0604020202020204" pitchFamily="34" charset="0"/>
              </a:rPr>
              <a:t>, en utilisant la fonction suivante </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if [</a:t>
            </a:r>
            <a:r>
              <a:rPr lang="en-US" b="1" dirty="0" err="1">
                <a:latin typeface="Arial" panose="020B0604020202020204" pitchFamily="34" charset="0"/>
                <a:cs typeface="Arial" panose="020B0604020202020204" pitchFamily="34" charset="0"/>
              </a:rPr>
              <a:t>tarif_devis_clean</a:t>
            </a:r>
            <a:r>
              <a:rPr lang="en-US" b="1" dirty="0">
                <a:latin typeface="Arial" panose="020B0604020202020204" pitchFamily="34" charset="0"/>
                <a:cs typeface="Arial" panose="020B0604020202020204" pitchFamily="34" charset="0"/>
              </a:rPr>
              <a:t>] &lt; 500 then "[250-500€]"</a:t>
            </a:r>
            <a:endParaRPr lang="fr-FR"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else if [</a:t>
            </a:r>
            <a:r>
              <a:rPr lang="en-US" b="1" dirty="0" err="1">
                <a:latin typeface="Arial" panose="020B0604020202020204" pitchFamily="34" charset="0"/>
                <a:cs typeface="Arial" panose="020B0604020202020204" pitchFamily="34" charset="0"/>
              </a:rPr>
              <a:t>tarif_devis_clean</a:t>
            </a:r>
            <a:r>
              <a:rPr lang="en-US" b="1" dirty="0">
                <a:latin typeface="Arial" panose="020B0604020202020204" pitchFamily="34" charset="0"/>
                <a:cs typeface="Arial" panose="020B0604020202020204" pitchFamily="34" charset="0"/>
              </a:rPr>
              <a:t>] &lt; 750 then "[500-750€]"</a:t>
            </a:r>
            <a:endParaRPr lang="fr-FR"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else if [</a:t>
            </a:r>
            <a:r>
              <a:rPr lang="en-US" b="1" dirty="0" err="1">
                <a:latin typeface="Arial" panose="020B0604020202020204" pitchFamily="34" charset="0"/>
                <a:cs typeface="Arial" panose="020B0604020202020204" pitchFamily="34" charset="0"/>
              </a:rPr>
              <a:t>tarif_devis_clean</a:t>
            </a:r>
            <a:r>
              <a:rPr lang="en-US" b="1" dirty="0">
                <a:latin typeface="Arial" panose="020B0604020202020204" pitchFamily="34" charset="0"/>
                <a:cs typeface="Arial" panose="020B0604020202020204" pitchFamily="34" charset="0"/>
              </a:rPr>
              <a:t>] &lt; 1000 then "[750-1000€]"</a:t>
            </a:r>
            <a:endParaRPr lang="fr-FR" dirty="0">
              <a:latin typeface="Arial" panose="020B0604020202020204" pitchFamily="34" charset="0"/>
              <a:cs typeface="Arial" panose="020B0604020202020204" pitchFamily="34" charset="0"/>
            </a:endParaRPr>
          </a:p>
          <a:p>
            <a:pPr algn="just"/>
            <a:r>
              <a:rPr lang="fr-FR" b="1" dirty="0" err="1">
                <a:latin typeface="Arial" panose="020B0604020202020204" pitchFamily="34" charset="0"/>
                <a:cs typeface="Arial" panose="020B0604020202020204" pitchFamily="34" charset="0"/>
              </a:rPr>
              <a:t>else</a:t>
            </a:r>
            <a:r>
              <a:rPr lang="fr-FR" b="1" dirty="0">
                <a:latin typeface="Arial" panose="020B0604020202020204" pitchFamily="34" charset="0"/>
                <a:cs typeface="Arial" panose="020B0604020202020204" pitchFamily="34" charset="0"/>
              </a:rPr>
              <a:t> "[1000+€</a:t>
            </a:r>
            <a:r>
              <a:rPr lang="fr-FR" b="1"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a:p>
            <a:pPr marL="0" indent="0" algn="just">
              <a:buNone/>
            </a:pPr>
            <a:r>
              <a:rPr lang="fr-FR" dirty="0">
                <a:latin typeface="Arial" panose="020B0604020202020204" pitchFamily="34" charset="0"/>
                <a:cs typeface="Arial" panose="020B0604020202020204" pitchFamily="34" charset="0"/>
              </a:rPr>
              <a:t>Mais avant, il faut transformer le type de la colonne </a:t>
            </a:r>
            <a:r>
              <a:rPr lang="fr-FR" dirty="0" err="1">
                <a:latin typeface="Arial" panose="020B0604020202020204" pitchFamily="34" charset="0"/>
                <a:cs typeface="Arial" panose="020B0604020202020204" pitchFamily="34" charset="0"/>
              </a:rPr>
              <a:t>tarif_devis</a:t>
            </a:r>
            <a:r>
              <a:rPr lang="fr-FR" dirty="0">
                <a:latin typeface="Arial" panose="020B0604020202020204" pitchFamily="34" charset="0"/>
                <a:cs typeface="Arial" panose="020B0604020202020204" pitchFamily="34" charset="0"/>
              </a:rPr>
              <a:t> de texte au nombre décimal, en remplaçant tout d’abord le point «.» par la virgule «,», en utilisant la formule suivante :  </a:t>
            </a:r>
          </a:p>
          <a:p>
            <a:pPr marL="0" indent="0" algn="just">
              <a:buNone/>
            </a:pPr>
            <a:r>
              <a:rPr lang="fr-FR" b="1" dirty="0" err="1">
                <a:latin typeface="Arial" panose="020B0604020202020204" pitchFamily="34" charset="0"/>
                <a:cs typeface="Arial" panose="020B0604020202020204" pitchFamily="34" charset="0"/>
              </a:rPr>
              <a:t>Text.Replace</a:t>
            </a:r>
            <a:r>
              <a:rPr lang="fr-FR" b="1" dirty="0">
                <a:latin typeface="Arial" panose="020B0604020202020204" pitchFamily="34" charset="0"/>
                <a:cs typeface="Arial" panose="020B0604020202020204" pitchFamily="34" charset="0"/>
              </a:rPr>
              <a:t> ([</a:t>
            </a:r>
            <a:r>
              <a:rPr lang="fr-FR" b="1" dirty="0" err="1">
                <a:latin typeface="Arial" panose="020B0604020202020204" pitchFamily="34" charset="0"/>
                <a:cs typeface="Arial" panose="020B0604020202020204" pitchFamily="34" charset="0"/>
              </a:rPr>
              <a:t>tarif_devis</a:t>
            </a:r>
            <a:r>
              <a:rPr lang="fr-FR" b="1" dirty="0">
                <a:latin typeface="Arial" panose="020B0604020202020204" pitchFamily="34" charset="0"/>
                <a:cs typeface="Arial" panose="020B0604020202020204" pitchFamily="34" charset="0"/>
              </a:rPr>
              <a:t>], ".", </a:t>
            </a:r>
            <a:r>
              <a:rPr lang="fr-FR" b="1" dirty="0" smtClean="0">
                <a:latin typeface="Arial" panose="020B0604020202020204" pitchFamily="34" charset="0"/>
                <a:cs typeface="Arial" panose="020B0604020202020204" pitchFamily="34" charset="0"/>
              </a:rPr>
              <a:t>",")</a:t>
            </a:r>
          </a:p>
          <a:p>
            <a:pPr marL="0" indent="0" algn="just">
              <a:buNone/>
            </a:pPr>
            <a:endParaRPr lang="fr-FR" dirty="0">
              <a:latin typeface="Arial" panose="020B0604020202020204" pitchFamily="34" charset="0"/>
              <a:cs typeface="Arial" panose="020B0604020202020204" pitchFamily="34" charset="0"/>
            </a:endParaRPr>
          </a:p>
          <a:p>
            <a:pPr marL="0" indent="0" algn="just">
              <a:buNone/>
            </a:pPr>
            <a:r>
              <a:rPr lang="fr-FR" dirty="0">
                <a:latin typeface="Arial" panose="020B0604020202020204" pitchFamily="34" charset="0"/>
                <a:cs typeface="Arial" panose="020B0604020202020204" pitchFamily="34" charset="0"/>
              </a:rPr>
              <a:t>On nomme la nouvelle colonne</a:t>
            </a:r>
            <a:r>
              <a:rPr lang="fr-FR" b="1" dirty="0">
                <a:latin typeface="Arial" panose="020B0604020202020204" pitchFamily="34" charset="0"/>
                <a:cs typeface="Arial" panose="020B0604020202020204" pitchFamily="34" charset="0"/>
              </a:rPr>
              <a:t> </a:t>
            </a:r>
            <a:r>
              <a:rPr lang="fr-FR" b="1" dirty="0" err="1">
                <a:latin typeface="Arial" panose="020B0604020202020204" pitchFamily="34" charset="0"/>
                <a:cs typeface="Arial" panose="020B0604020202020204" pitchFamily="34" charset="0"/>
              </a:rPr>
              <a:t>tarif_devis_clean</a:t>
            </a:r>
            <a:r>
              <a:rPr lang="fr-FR" b="1" dirty="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(et on la supprime après) :</a:t>
            </a:r>
          </a:p>
          <a:p>
            <a:pPr algn="just"/>
            <a:endParaRPr lang="fr-FR"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14</a:t>
            </a:fld>
            <a:endParaRPr lang="fr-FR"/>
          </a:p>
        </p:txBody>
      </p:sp>
    </p:spTree>
    <p:extLst>
      <p:ext uri="{BB962C8B-B14F-4D97-AF65-F5344CB8AC3E}">
        <p14:creationId xmlns:p14="http://schemas.microsoft.com/office/powerpoint/2010/main" val="3647429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a:blip r:embed="rId2"/>
          <a:stretch>
            <a:fillRect/>
          </a:stretch>
        </p:blipFill>
        <p:spPr>
          <a:xfrm>
            <a:off x="467544" y="476672"/>
            <a:ext cx="7992888" cy="5832648"/>
          </a:xfrm>
          <a:prstGeom prst="rect">
            <a:avLst/>
          </a:prstGeom>
        </p:spPr>
      </p:pic>
      <p:sp>
        <p:nvSpPr>
          <p:cNvPr id="3" name="Espace réservé du numéro de diapositive 2"/>
          <p:cNvSpPr>
            <a:spLocks noGrp="1"/>
          </p:cNvSpPr>
          <p:nvPr>
            <p:ph type="sldNum" sz="quarter" idx="12"/>
          </p:nvPr>
        </p:nvSpPr>
        <p:spPr/>
        <p:txBody>
          <a:bodyPr/>
          <a:lstStyle/>
          <a:p>
            <a:fld id="{ED7C5483-BB9D-4EF4-A8A5-8F41CA8E1BF3}" type="slidenum">
              <a:rPr lang="fr-FR" smtClean="0"/>
              <a:t>15</a:t>
            </a:fld>
            <a:endParaRPr lang="fr-FR"/>
          </a:p>
        </p:txBody>
      </p:sp>
    </p:spTree>
    <p:extLst>
      <p:ext uri="{BB962C8B-B14F-4D97-AF65-F5344CB8AC3E}">
        <p14:creationId xmlns:p14="http://schemas.microsoft.com/office/powerpoint/2010/main" val="30900615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a:blip r:embed="rId2"/>
          <a:stretch>
            <a:fillRect/>
          </a:stretch>
        </p:blipFill>
        <p:spPr>
          <a:xfrm>
            <a:off x="395536" y="476672"/>
            <a:ext cx="8496944" cy="5904656"/>
          </a:xfrm>
          <a:prstGeom prst="rect">
            <a:avLst/>
          </a:prstGeom>
        </p:spPr>
      </p:pic>
      <p:sp>
        <p:nvSpPr>
          <p:cNvPr id="3" name="Espace réservé du numéro de diapositive 2"/>
          <p:cNvSpPr>
            <a:spLocks noGrp="1"/>
          </p:cNvSpPr>
          <p:nvPr>
            <p:ph type="sldNum" sz="quarter" idx="12"/>
          </p:nvPr>
        </p:nvSpPr>
        <p:spPr/>
        <p:txBody>
          <a:bodyPr/>
          <a:lstStyle/>
          <a:p>
            <a:fld id="{ED7C5483-BB9D-4EF4-A8A5-8F41CA8E1BF3}" type="slidenum">
              <a:rPr lang="fr-FR" smtClean="0"/>
              <a:t>16</a:t>
            </a:fld>
            <a:endParaRPr lang="fr-FR"/>
          </a:p>
        </p:txBody>
      </p:sp>
    </p:spTree>
    <p:extLst>
      <p:ext uri="{BB962C8B-B14F-4D97-AF65-F5344CB8AC3E}">
        <p14:creationId xmlns:p14="http://schemas.microsoft.com/office/powerpoint/2010/main" val="23164395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199" y="260648"/>
            <a:ext cx="8229600" cy="620688"/>
          </a:xfrm>
        </p:spPr>
        <p:txBody>
          <a:bodyPr>
            <a:noAutofit/>
          </a:bodyPr>
          <a:lstStyle/>
          <a:p>
            <a:pPr algn="ctr"/>
            <a:r>
              <a:rPr lang="fr-FR" sz="2800" b="1" dirty="0" smtClean="0">
                <a:latin typeface="Arial" panose="020B0604020202020204" pitchFamily="34" charset="0"/>
                <a:cs typeface="Arial" panose="020B0604020202020204" pitchFamily="34" charset="0"/>
              </a:rPr>
              <a:t/>
            </a:r>
            <a:br>
              <a:rPr lang="fr-FR" sz="2800" b="1" dirty="0" smtClean="0">
                <a:latin typeface="Arial" panose="020B0604020202020204" pitchFamily="34" charset="0"/>
                <a:cs typeface="Arial" panose="020B0604020202020204" pitchFamily="34" charset="0"/>
              </a:rPr>
            </a:br>
            <a:r>
              <a:rPr lang="fr-FR" sz="2800" b="1" dirty="0" smtClean="0">
                <a:latin typeface="Arial" panose="020B0604020202020204" pitchFamily="34" charset="0"/>
                <a:cs typeface="Arial" panose="020B0604020202020204" pitchFamily="34" charset="0"/>
              </a:rPr>
              <a:t>Le </a:t>
            </a:r>
            <a:r>
              <a:rPr lang="fr-FR" sz="2800" b="1" dirty="0">
                <a:latin typeface="Arial" panose="020B0604020202020204" pitchFamily="34" charset="0"/>
                <a:cs typeface="Arial" panose="020B0604020202020204" pitchFamily="34" charset="0"/>
              </a:rPr>
              <a:t>fichier </a:t>
            </a:r>
            <a:r>
              <a:rPr lang="fr-FR" sz="2800" b="1" dirty="0" smtClean="0">
                <a:latin typeface="Arial" panose="020B0604020202020204" pitchFamily="34" charset="0"/>
                <a:cs typeface="Arial" panose="020B0604020202020204" pitchFamily="34" charset="0"/>
              </a:rPr>
              <a:t>final</a:t>
            </a:r>
            <a:endParaRPr lang="fr-FR" sz="2800" dirty="0">
              <a:latin typeface="Arial" panose="020B0604020202020204" pitchFamily="34" charset="0"/>
              <a:cs typeface="Arial" panose="020B0604020202020204" pitchFamily="34" charset="0"/>
            </a:endParaRPr>
          </a:p>
        </p:txBody>
      </p:sp>
      <p:pic>
        <p:nvPicPr>
          <p:cNvPr id="4" name="Image 3"/>
          <p:cNvPicPr/>
          <p:nvPr/>
        </p:nvPicPr>
        <p:blipFill>
          <a:blip r:embed="rId2"/>
          <a:stretch>
            <a:fillRect/>
          </a:stretch>
        </p:blipFill>
        <p:spPr>
          <a:xfrm>
            <a:off x="251520" y="1052736"/>
            <a:ext cx="8640959" cy="5256584"/>
          </a:xfrm>
          <a:prstGeom prst="rect">
            <a:avLst/>
          </a:prstGeom>
        </p:spPr>
      </p:pic>
      <p:sp>
        <p:nvSpPr>
          <p:cNvPr id="5" name="Espace réservé du numéro de diapositive 4"/>
          <p:cNvSpPr>
            <a:spLocks noGrp="1"/>
          </p:cNvSpPr>
          <p:nvPr>
            <p:ph type="sldNum" sz="quarter" idx="12"/>
          </p:nvPr>
        </p:nvSpPr>
        <p:spPr/>
        <p:txBody>
          <a:bodyPr/>
          <a:lstStyle/>
          <a:p>
            <a:fld id="{ED7C5483-BB9D-4EF4-A8A5-8F41CA8E1BF3}" type="slidenum">
              <a:rPr lang="fr-FR" smtClean="0"/>
              <a:t>17</a:t>
            </a:fld>
            <a:endParaRPr lang="fr-FR"/>
          </a:p>
        </p:txBody>
      </p:sp>
    </p:spTree>
    <p:extLst>
      <p:ext uri="{BB962C8B-B14F-4D97-AF65-F5344CB8AC3E}">
        <p14:creationId xmlns:p14="http://schemas.microsoft.com/office/powerpoint/2010/main" val="31700094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620688"/>
            <a:ext cx="8229600" cy="1143000"/>
          </a:xfrm>
        </p:spPr>
        <p:txBody>
          <a:bodyPr>
            <a:noAutofit/>
          </a:bodyPr>
          <a:lstStyle/>
          <a:p>
            <a:pPr algn="ctr"/>
            <a:r>
              <a:rPr lang="fr-FR" sz="2000" b="1" dirty="0" smtClean="0">
                <a:latin typeface="Arial" panose="020B0604020202020204" pitchFamily="34" charset="0"/>
                <a:cs typeface="Arial" panose="020B0604020202020204" pitchFamily="34" charset="0"/>
              </a:rPr>
              <a:t/>
            </a:r>
            <a:br>
              <a:rPr lang="fr-FR" sz="2000" b="1" dirty="0" smtClean="0">
                <a:latin typeface="Arial" panose="020B0604020202020204" pitchFamily="34" charset="0"/>
                <a:cs typeface="Arial" panose="020B0604020202020204" pitchFamily="34" charset="0"/>
              </a:rPr>
            </a:br>
            <a:r>
              <a:rPr lang="fr-FR" sz="2000" b="1" dirty="0" smtClean="0">
                <a:latin typeface="Arial" panose="020B0604020202020204" pitchFamily="34" charset="0"/>
                <a:cs typeface="Arial" panose="020B0604020202020204" pitchFamily="34" charset="0"/>
              </a:rPr>
              <a:t>Recommandations pour principes non immédiatement applicables:</a:t>
            </a:r>
            <a:endParaRPr lang="fr-FR" sz="2000"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a:xfrm>
            <a:off x="467544" y="2060848"/>
            <a:ext cx="8229600" cy="3456384"/>
          </a:xfrm>
        </p:spPr>
        <p:txBody>
          <a:bodyPr>
            <a:normAutofit lnSpcReduction="10000"/>
          </a:bodyPr>
          <a:lstStyle/>
          <a:p>
            <a:pPr marL="0" indent="0" algn="just">
              <a:buNone/>
            </a:pPr>
            <a:endParaRPr lang="fr-FR" sz="1800" dirty="0">
              <a:latin typeface="Arial" panose="020B0604020202020204" pitchFamily="34" charset="0"/>
              <a:cs typeface="Arial" panose="020B0604020202020204" pitchFamily="34" charset="0"/>
            </a:endParaRPr>
          </a:p>
          <a:p>
            <a:pPr lvl="0" algn="just"/>
            <a:r>
              <a:rPr lang="fr-FR" sz="1800" b="1" dirty="0">
                <a:latin typeface="Arial" panose="020B0604020202020204" pitchFamily="34" charset="0"/>
                <a:cs typeface="Arial" panose="020B0604020202020204" pitchFamily="34" charset="0"/>
              </a:rPr>
              <a:t>Consentement explicite :</a:t>
            </a:r>
            <a:r>
              <a:rPr lang="fr-FR" sz="1800" dirty="0">
                <a:latin typeface="Arial" panose="020B0604020202020204" pitchFamily="34" charset="0"/>
                <a:cs typeface="Arial" panose="020B0604020202020204" pitchFamily="34" charset="0"/>
              </a:rPr>
              <a:t> La base de données ne contient pas d'informations sur le consentement des utilisateurs. </a:t>
            </a:r>
          </a:p>
          <a:p>
            <a:pPr marL="0" indent="0" algn="just">
              <a:buNone/>
            </a:pPr>
            <a:r>
              <a:rPr lang="fr-FR" sz="1800" dirty="0">
                <a:latin typeface="Arial" panose="020B0604020202020204" pitchFamily="34" charset="0"/>
                <a:cs typeface="Arial" panose="020B0604020202020204" pitchFamily="34" charset="0"/>
              </a:rPr>
              <a:t>Recommandation : Ajouter une colonne "consentement_RGPD" (Oui/Non) basée sur des audits externes, et exclure les données sans consentement.</a:t>
            </a:r>
          </a:p>
          <a:p>
            <a:pPr lvl="0" algn="just"/>
            <a:endParaRPr lang="fr-FR" sz="1800" b="1" dirty="0" smtClean="0">
              <a:latin typeface="Arial" panose="020B0604020202020204" pitchFamily="34" charset="0"/>
              <a:cs typeface="Arial" panose="020B0604020202020204" pitchFamily="34" charset="0"/>
            </a:endParaRPr>
          </a:p>
          <a:p>
            <a:pPr lvl="0" algn="just"/>
            <a:r>
              <a:rPr lang="fr-FR" sz="1800" b="1" dirty="0" smtClean="0">
                <a:latin typeface="Arial" panose="020B0604020202020204" pitchFamily="34" charset="0"/>
                <a:cs typeface="Arial" panose="020B0604020202020204" pitchFamily="34" charset="0"/>
              </a:rPr>
              <a:t>Droit </a:t>
            </a:r>
            <a:r>
              <a:rPr lang="fr-FR" sz="1800" b="1" dirty="0">
                <a:latin typeface="Arial" panose="020B0604020202020204" pitchFamily="34" charset="0"/>
                <a:cs typeface="Arial" panose="020B0604020202020204" pitchFamily="34" charset="0"/>
              </a:rPr>
              <a:t>à l'effacement :</a:t>
            </a:r>
            <a:r>
              <a:rPr lang="fr-FR" sz="1800" dirty="0">
                <a:latin typeface="Arial" panose="020B0604020202020204" pitchFamily="34" charset="0"/>
                <a:cs typeface="Arial" panose="020B0604020202020204" pitchFamily="34" charset="0"/>
              </a:rPr>
              <a:t> Non applicable directement sur la base de données statique. </a:t>
            </a:r>
          </a:p>
          <a:p>
            <a:pPr marL="0" indent="0" algn="just">
              <a:buNone/>
            </a:pPr>
            <a:r>
              <a:rPr lang="fr-FR" sz="1800" dirty="0">
                <a:latin typeface="Arial" panose="020B0604020202020204" pitchFamily="34" charset="0"/>
                <a:cs typeface="Arial" panose="020B0604020202020204" pitchFamily="34" charset="0"/>
              </a:rPr>
              <a:t>Recommandation : Mettre en place un processus de suppression automatique des données après une période (ex. : 5 ans).</a:t>
            </a:r>
          </a:p>
          <a:p>
            <a:pPr algn="just"/>
            <a:endParaRPr lang="fr-FR" sz="1800"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18</a:t>
            </a:fld>
            <a:endParaRPr lang="fr-FR"/>
          </a:p>
        </p:txBody>
      </p:sp>
    </p:spTree>
    <p:extLst>
      <p:ext uri="{BB962C8B-B14F-4D97-AF65-F5344CB8AC3E}">
        <p14:creationId xmlns:p14="http://schemas.microsoft.com/office/powerpoint/2010/main" val="32074528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908720"/>
            <a:ext cx="8229600" cy="490066"/>
          </a:xfrm>
        </p:spPr>
        <p:txBody>
          <a:bodyPr/>
          <a:lstStyle/>
          <a:p>
            <a:pPr algn="ctr"/>
            <a:r>
              <a:rPr lang="fr-FR" sz="2000" b="1" dirty="0" smtClean="0">
                <a:latin typeface="Arial" panose="020B0604020202020204" pitchFamily="34" charset="0"/>
                <a:cs typeface="Arial" panose="020B0604020202020204" pitchFamily="34" charset="0"/>
              </a:rPr>
              <a:t/>
            </a:r>
            <a:br>
              <a:rPr lang="fr-FR" sz="2000" b="1" dirty="0" smtClean="0">
                <a:latin typeface="Arial" panose="020B0604020202020204" pitchFamily="34" charset="0"/>
                <a:cs typeface="Arial" panose="020B0604020202020204" pitchFamily="34" charset="0"/>
              </a:rPr>
            </a:br>
            <a:r>
              <a:rPr lang="fr-FR" sz="2000" b="1" dirty="0" smtClean="0">
                <a:latin typeface="Arial" panose="020B0604020202020204" pitchFamily="34" charset="0"/>
                <a:cs typeface="Arial" panose="020B0604020202020204" pitchFamily="34" charset="0"/>
              </a:rPr>
              <a:t>Préconisations à destination de la direction:</a:t>
            </a:r>
            <a:endParaRPr lang="fr-FR" sz="2000"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p:txBody>
          <a:bodyPr>
            <a:normAutofit lnSpcReduction="10000"/>
          </a:bodyPr>
          <a:lstStyle/>
          <a:p>
            <a:pPr marL="0" indent="0" algn="just">
              <a:buNone/>
            </a:pPr>
            <a:endParaRPr lang="fr-FR" sz="1800" dirty="0">
              <a:latin typeface="Arial" panose="020B0604020202020204" pitchFamily="34" charset="0"/>
              <a:cs typeface="Arial" panose="020B0604020202020204" pitchFamily="34" charset="0"/>
            </a:endParaRPr>
          </a:p>
          <a:p>
            <a:pPr lvl="0" algn="just"/>
            <a:r>
              <a:rPr lang="fr-FR" sz="1800" b="1" dirty="0">
                <a:latin typeface="Arial" panose="020B0604020202020204" pitchFamily="34" charset="0"/>
                <a:cs typeface="Arial" panose="020B0604020202020204" pitchFamily="34" charset="0"/>
              </a:rPr>
              <a:t>Formation du personnel : </a:t>
            </a:r>
            <a:r>
              <a:rPr lang="fr-FR" sz="1800" dirty="0">
                <a:latin typeface="Arial" panose="020B0604020202020204" pitchFamily="34" charset="0"/>
                <a:cs typeface="Arial" panose="020B0604020202020204" pitchFamily="34" charset="0"/>
              </a:rPr>
              <a:t>Former les équipes sur le RGPD pour éviter les fuites de données lors de la manipulation</a:t>
            </a:r>
            <a:r>
              <a:rPr lang="fr-FR" sz="1800" dirty="0" smtClean="0">
                <a:latin typeface="Arial" panose="020B0604020202020204" pitchFamily="34" charset="0"/>
                <a:cs typeface="Arial" panose="020B0604020202020204" pitchFamily="34" charset="0"/>
              </a:rPr>
              <a:t>.</a:t>
            </a:r>
          </a:p>
          <a:p>
            <a:pPr marL="0" lvl="0" indent="0" algn="just">
              <a:buNone/>
            </a:pPr>
            <a:endParaRPr lang="fr-FR" sz="1800" dirty="0">
              <a:latin typeface="Arial" panose="020B0604020202020204" pitchFamily="34" charset="0"/>
              <a:cs typeface="Arial" panose="020B0604020202020204" pitchFamily="34" charset="0"/>
            </a:endParaRPr>
          </a:p>
          <a:p>
            <a:pPr lvl="0" algn="just"/>
            <a:r>
              <a:rPr lang="fr-FR" sz="1800" b="1" dirty="0">
                <a:latin typeface="Arial" panose="020B0604020202020204" pitchFamily="34" charset="0"/>
                <a:cs typeface="Arial" panose="020B0604020202020204" pitchFamily="34" charset="0"/>
              </a:rPr>
              <a:t>Audit régulier :</a:t>
            </a:r>
            <a:r>
              <a:rPr lang="fr-FR" sz="1800" dirty="0">
                <a:latin typeface="Arial" panose="020B0604020202020204" pitchFamily="34" charset="0"/>
                <a:cs typeface="Arial" panose="020B0604020202020204" pitchFamily="34" charset="0"/>
              </a:rPr>
              <a:t> Effectuer des audits annuels pour vérifier la conformité, avec un DPO (Data Protection </a:t>
            </a:r>
            <a:r>
              <a:rPr lang="fr-FR" sz="1800" dirty="0" err="1">
                <a:latin typeface="Arial" panose="020B0604020202020204" pitchFamily="34" charset="0"/>
                <a:cs typeface="Arial" panose="020B0604020202020204" pitchFamily="34" charset="0"/>
              </a:rPr>
              <a:t>Officer</a:t>
            </a:r>
            <a:r>
              <a:rPr lang="fr-FR" sz="1800" dirty="0">
                <a:latin typeface="Arial" panose="020B0604020202020204" pitchFamily="34" charset="0"/>
                <a:cs typeface="Arial" panose="020B0604020202020204" pitchFamily="34" charset="0"/>
              </a:rPr>
              <a:t>) désigné</a:t>
            </a:r>
            <a:r>
              <a:rPr lang="fr-FR" sz="1800" dirty="0" smtClean="0">
                <a:latin typeface="Arial" panose="020B0604020202020204" pitchFamily="34" charset="0"/>
                <a:cs typeface="Arial" panose="020B0604020202020204" pitchFamily="34" charset="0"/>
              </a:rPr>
              <a:t>.</a:t>
            </a:r>
          </a:p>
          <a:p>
            <a:pPr marL="0" lvl="0" indent="0" algn="just">
              <a:buNone/>
            </a:pPr>
            <a:endParaRPr lang="fr-FR" sz="1800" dirty="0">
              <a:latin typeface="Arial" panose="020B0604020202020204" pitchFamily="34" charset="0"/>
              <a:cs typeface="Arial" panose="020B0604020202020204" pitchFamily="34" charset="0"/>
            </a:endParaRPr>
          </a:p>
          <a:p>
            <a:pPr lvl="0" algn="just"/>
            <a:r>
              <a:rPr lang="fr-FR" sz="1800" b="1" dirty="0">
                <a:latin typeface="Arial" panose="020B0604020202020204" pitchFamily="34" charset="0"/>
                <a:cs typeface="Arial" panose="020B0604020202020204" pitchFamily="34" charset="0"/>
              </a:rPr>
              <a:t>Gestion des risques :</a:t>
            </a:r>
            <a:r>
              <a:rPr lang="fr-FR" sz="1800" dirty="0">
                <a:latin typeface="Arial" panose="020B0604020202020204" pitchFamily="34" charset="0"/>
                <a:cs typeface="Arial" panose="020B0604020202020204" pitchFamily="34" charset="0"/>
              </a:rPr>
              <a:t> Si des données sensibles sont ajoutées (ex. : adresses), </a:t>
            </a:r>
            <a:r>
              <a:rPr lang="fr-FR" sz="1800" dirty="0" smtClean="0">
                <a:latin typeface="Arial" panose="020B0604020202020204" pitchFamily="34" charset="0"/>
                <a:cs typeface="Arial" panose="020B0604020202020204" pitchFamily="34" charset="0"/>
              </a:rPr>
              <a:t>il faut les </a:t>
            </a:r>
            <a:r>
              <a:rPr lang="fr-FR" sz="1800" dirty="0" err="1" smtClean="0">
                <a:latin typeface="Arial" panose="020B0604020202020204" pitchFamily="34" charset="0"/>
                <a:cs typeface="Arial" panose="020B0604020202020204" pitchFamily="34" charset="0"/>
              </a:rPr>
              <a:t>anonymiser</a:t>
            </a:r>
            <a:r>
              <a:rPr lang="fr-FR" sz="1800" dirty="0" smtClean="0">
                <a:latin typeface="Arial" panose="020B0604020202020204" pitchFamily="34" charset="0"/>
                <a:cs typeface="Arial" panose="020B0604020202020204" pitchFamily="34" charset="0"/>
              </a:rPr>
              <a:t>.</a:t>
            </a:r>
          </a:p>
          <a:p>
            <a:pPr marL="0" lvl="0" indent="0" algn="just">
              <a:buNone/>
            </a:pPr>
            <a:endParaRPr lang="fr-FR" sz="1800" dirty="0">
              <a:latin typeface="Arial" panose="020B0604020202020204" pitchFamily="34" charset="0"/>
              <a:cs typeface="Arial" panose="020B0604020202020204" pitchFamily="34" charset="0"/>
            </a:endParaRPr>
          </a:p>
          <a:p>
            <a:pPr algn="just"/>
            <a:r>
              <a:rPr lang="fr-FR" sz="1800" b="1" dirty="0">
                <a:latin typeface="Arial" panose="020B0604020202020204" pitchFamily="34" charset="0"/>
                <a:cs typeface="Arial" panose="020B0604020202020204" pitchFamily="34" charset="0"/>
              </a:rPr>
              <a:t>Communication :</a:t>
            </a:r>
            <a:r>
              <a:rPr lang="fr-FR" sz="1800" dirty="0">
                <a:latin typeface="Arial" panose="020B0604020202020204" pitchFamily="34" charset="0"/>
                <a:cs typeface="Arial" panose="020B0604020202020204" pitchFamily="34" charset="0"/>
              </a:rPr>
              <a:t> Informer les clients via une politique de confidentialité mise à jour, expliquant l'anonymisation.</a:t>
            </a: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19</a:t>
            </a:fld>
            <a:endParaRPr lang="fr-FR"/>
          </a:p>
        </p:txBody>
      </p:sp>
    </p:spTree>
    <p:extLst>
      <p:ext uri="{BB962C8B-B14F-4D97-AF65-F5344CB8AC3E}">
        <p14:creationId xmlns:p14="http://schemas.microsoft.com/office/powerpoint/2010/main" val="6651098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476672"/>
            <a:ext cx="8229600" cy="720080"/>
          </a:xfrm>
        </p:spPr>
        <p:txBody>
          <a:bodyPr/>
          <a:lstStyle/>
          <a:p>
            <a:pPr algn="ctr"/>
            <a:r>
              <a:rPr lang="fr-FR" sz="2200" b="1" dirty="0" smtClean="0">
                <a:latin typeface="Arial" panose="020B0604020202020204" pitchFamily="34" charset="0"/>
                <a:cs typeface="Arial" panose="020B0604020202020204" pitchFamily="34" charset="0"/>
              </a:rPr>
              <a:t/>
            </a:r>
            <a:br>
              <a:rPr lang="fr-FR" sz="2200" b="1" dirty="0" smtClean="0">
                <a:latin typeface="Arial" panose="020B0604020202020204" pitchFamily="34" charset="0"/>
                <a:cs typeface="Arial" panose="020B0604020202020204" pitchFamily="34" charset="0"/>
              </a:rPr>
            </a:br>
            <a:r>
              <a:rPr lang="fr-FR" sz="2200" b="1" dirty="0" smtClean="0">
                <a:latin typeface="Arial" panose="020B0604020202020204" pitchFamily="34" charset="0"/>
                <a:cs typeface="Arial" panose="020B0604020202020204" pitchFamily="34" charset="0"/>
              </a:rPr>
              <a:t>Respect de processus qualité:</a:t>
            </a:r>
            <a:endParaRPr lang="fr-FR" sz="2200"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a:xfrm>
            <a:off x="467544" y="1196752"/>
            <a:ext cx="8140824" cy="5112568"/>
          </a:xfrm>
        </p:spPr>
        <p:txBody>
          <a:bodyPr>
            <a:noAutofit/>
          </a:bodyPr>
          <a:lstStyle/>
          <a:p>
            <a:pPr marL="0" indent="0" algn="just">
              <a:buNone/>
            </a:pPr>
            <a:r>
              <a:rPr lang="fr-FR" sz="1800" dirty="0">
                <a:latin typeface="Arial" panose="020B0604020202020204" pitchFamily="34" charset="0"/>
                <a:cs typeface="Arial" panose="020B0604020202020204" pitchFamily="34" charset="0"/>
              </a:rPr>
              <a:t> </a:t>
            </a:r>
          </a:p>
          <a:p>
            <a:pPr algn="just"/>
            <a:r>
              <a:rPr lang="fr-FR" sz="1800" b="1" dirty="0">
                <a:latin typeface="Arial" panose="020B0604020202020204" pitchFamily="34" charset="0"/>
                <a:cs typeface="Arial" panose="020B0604020202020204" pitchFamily="34" charset="0"/>
              </a:rPr>
              <a:t>Collecte des données : </a:t>
            </a:r>
            <a:r>
              <a:rPr lang="fr-FR" sz="1800" dirty="0">
                <a:latin typeface="Arial" panose="020B0604020202020204" pitchFamily="34" charset="0"/>
                <a:cs typeface="Arial" panose="020B0604020202020204" pitchFamily="34" charset="0"/>
              </a:rPr>
              <a:t>Les données proviennent d'une extraction SQLite (fichier CSV), vérifiée pour l'intégrité (pas de doublons détectés via Power </a:t>
            </a:r>
            <a:r>
              <a:rPr lang="fr-FR" sz="1800" dirty="0" err="1">
                <a:latin typeface="Arial" panose="020B0604020202020204" pitchFamily="34" charset="0"/>
                <a:cs typeface="Arial" panose="020B0604020202020204" pitchFamily="34" charset="0"/>
              </a:rPr>
              <a:t>Query</a:t>
            </a:r>
            <a:r>
              <a:rPr lang="fr-FR" sz="1800" dirty="0">
                <a:latin typeface="Arial" panose="020B0604020202020204" pitchFamily="34" charset="0"/>
                <a:cs typeface="Arial" panose="020B0604020202020204" pitchFamily="34" charset="0"/>
              </a:rPr>
              <a:t>). </a:t>
            </a:r>
            <a:endParaRPr lang="fr-FR" sz="1800" dirty="0" smtClean="0">
              <a:latin typeface="Arial" panose="020B0604020202020204" pitchFamily="34" charset="0"/>
              <a:cs typeface="Arial" panose="020B0604020202020204" pitchFamily="34" charset="0"/>
            </a:endParaRPr>
          </a:p>
          <a:p>
            <a:pPr marL="0" indent="0" algn="just">
              <a:buNone/>
            </a:pPr>
            <a:endParaRPr lang="fr-FR" sz="1800" dirty="0">
              <a:latin typeface="Arial" panose="020B0604020202020204" pitchFamily="34" charset="0"/>
              <a:cs typeface="Arial" panose="020B0604020202020204" pitchFamily="34" charset="0"/>
            </a:endParaRPr>
          </a:p>
          <a:p>
            <a:pPr algn="just"/>
            <a:r>
              <a:rPr lang="fr-FR" sz="1800" b="1" dirty="0">
                <a:latin typeface="Arial" panose="020B0604020202020204" pitchFamily="34" charset="0"/>
                <a:cs typeface="Arial" panose="020B0604020202020204" pitchFamily="34" charset="0"/>
              </a:rPr>
              <a:t>Préparation des données </a:t>
            </a:r>
            <a:r>
              <a:rPr lang="fr-FR" sz="1800" dirty="0">
                <a:latin typeface="Arial" panose="020B0604020202020204" pitchFamily="34" charset="0"/>
                <a:cs typeface="Arial" panose="020B0604020202020204" pitchFamily="34" charset="0"/>
              </a:rPr>
              <a:t>: Utilisation de Power </a:t>
            </a:r>
            <a:r>
              <a:rPr lang="fr-FR" sz="1800" dirty="0" err="1">
                <a:latin typeface="Arial" panose="020B0604020202020204" pitchFamily="34" charset="0"/>
                <a:cs typeface="Arial" panose="020B0604020202020204" pitchFamily="34" charset="0"/>
              </a:rPr>
              <a:t>Query</a:t>
            </a:r>
            <a:r>
              <a:rPr lang="fr-FR" sz="1800" dirty="0">
                <a:latin typeface="Arial" panose="020B0604020202020204" pitchFamily="34" charset="0"/>
                <a:cs typeface="Arial" panose="020B0604020202020204" pitchFamily="34" charset="0"/>
              </a:rPr>
              <a:t> pour transformations irréversibles</a:t>
            </a:r>
            <a:r>
              <a:rPr lang="fr-FR" sz="1800" dirty="0" smtClean="0">
                <a:latin typeface="Arial" panose="020B0604020202020204" pitchFamily="34" charset="0"/>
                <a:cs typeface="Arial" panose="020B0604020202020204" pitchFamily="34" charset="0"/>
              </a:rPr>
              <a:t>.</a:t>
            </a:r>
          </a:p>
          <a:p>
            <a:pPr marL="0" indent="0" algn="just">
              <a:buNone/>
            </a:pPr>
            <a:endParaRPr lang="fr-FR" sz="1800" dirty="0">
              <a:latin typeface="Arial" panose="020B0604020202020204" pitchFamily="34" charset="0"/>
              <a:cs typeface="Arial" panose="020B0604020202020204" pitchFamily="34" charset="0"/>
            </a:endParaRPr>
          </a:p>
          <a:p>
            <a:pPr algn="just"/>
            <a:r>
              <a:rPr lang="fr-FR" sz="1800" b="1" dirty="0">
                <a:latin typeface="Arial" panose="020B0604020202020204" pitchFamily="34" charset="0"/>
                <a:cs typeface="Arial" panose="020B0604020202020204" pitchFamily="34" charset="0"/>
              </a:rPr>
              <a:t>Audit de conformité : </a:t>
            </a:r>
            <a:r>
              <a:rPr lang="fr-FR" sz="1800" dirty="0">
                <a:latin typeface="Arial" panose="020B0604020202020204" pitchFamily="34" charset="0"/>
                <a:cs typeface="Arial" panose="020B0604020202020204" pitchFamily="34" charset="0"/>
              </a:rPr>
              <a:t>Vérification que les données anonymisées ne permettent pas de réidentification </a:t>
            </a:r>
            <a:endParaRPr lang="fr-FR" sz="1800" dirty="0" smtClean="0">
              <a:latin typeface="Arial" panose="020B0604020202020204" pitchFamily="34" charset="0"/>
              <a:cs typeface="Arial" panose="020B0604020202020204" pitchFamily="34" charset="0"/>
            </a:endParaRPr>
          </a:p>
          <a:p>
            <a:pPr marL="0" indent="0" algn="just">
              <a:buNone/>
            </a:pPr>
            <a:endParaRPr lang="fr-FR" sz="1800" dirty="0">
              <a:latin typeface="Arial" panose="020B0604020202020204" pitchFamily="34" charset="0"/>
              <a:cs typeface="Arial" panose="020B0604020202020204" pitchFamily="34" charset="0"/>
            </a:endParaRPr>
          </a:p>
          <a:p>
            <a:pPr algn="just"/>
            <a:r>
              <a:rPr lang="fr-FR" sz="1800" b="1" dirty="0">
                <a:latin typeface="Arial" panose="020B0604020202020204" pitchFamily="34" charset="0"/>
                <a:cs typeface="Arial" panose="020B0604020202020204" pitchFamily="34" charset="0"/>
              </a:rPr>
              <a:t>Traçabilité : </a:t>
            </a:r>
            <a:r>
              <a:rPr lang="fr-FR" sz="1800" dirty="0">
                <a:latin typeface="Arial" panose="020B0604020202020204" pitchFamily="34" charset="0"/>
                <a:cs typeface="Arial" panose="020B0604020202020204" pitchFamily="34" charset="0"/>
              </a:rPr>
              <a:t>Chaque étape est loguée. Conformité à la responsabilité (article </a:t>
            </a:r>
            <a:r>
              <a:rPr lang="fr-FR" sz="1800" dirty="0" smtClean="0">
                <a:latin typeface="Arial" panose="020B0604020202020204" pitchFamily="34" charset="0"/>
                <a:cs typeface="Arial" panose="020B0604020202020204" pitchFamily="34" charset="0"/>
              </a:rPr>
              <a:t>5 RGPD</a:t>
            </a:r>
            <a:r>
              <a:rPr lang="fr-FR" sz="1800" dirty="0">
                <a:latin typeface="Arial" panose="020B0604020202020204" pitchFamily="34" charset="0"/>
                <a:cs typeface="Arial" panose="020B0604020202020204" pitchFamily="34" charset="0"/>
              </a:rPr>
              <a:t>).</a:t>
            </a:r>
          </a:p>
          <a:p>
            <a:pPr marL="0" indent="0" algn="just">
              <a:buNone/>
            </a:pPr>
            <a:r>
              <a:rPr lang="fr-FR" sz="1800" b="1" dirty="0">
                <a:latin typeface="Arial" panose="020B0604020202020204" pitchFamily="34" charset="0"/>
                <a:cs typeface="Arial" panose="020B0604020202020204" pitchFamily="34" charset="0"/>
              </a:rPr>
              <a:t> </a:t>
            </a:r>
            <a:endParaRPr lang="fr-FR" sz="1800" dirty="0">
              <a:latin typeface="Arial" panose="020B0604020202020204" pitchFamily="34" charset="0"/>
              <a:cs typeface="Arial" panose="020B0604020202020204" pitchFamily="34" charset="0"/>
            </a:endParaRPr>
          </a:p>
          <a:p>
            <a:pPr marL="0" indent="0" algn="just">
              <a:buNone/>
            </a:pPr>
            <a:endParaRPr lang="fr-FR" sz="1800"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20</a:t>
            </a:fld>
            <a:endParaRPr lang="fr-FR"/>
          </a:p>
        </p:txBody>
      </p:sp>
    </p:spTree>
    <p:extLst>
      <p:ext uri="{BB962C8B-B14F-4D97-AF65-F5344CB8AC3E}">
        <p14:creationId xmlns:p14="http://schemas.microsoft.com/office/powerpoint/2010/main" val="27689117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404664"/>
            <a:ext cx="7924800" cy="508918"/>
          </a:xfrm>
        </p:spPr>
        <p:txBody>
          <a:bodyPr>
            <a:normAutofit/>
          </a:bodyPr>
          <a:lstStyle/>
          <a:p>
            <a:pPr algn="ctr"/>
            <a:r>
              <a:rPr lang="fr-FR" sz="3000" b="1" dirty="0" smtClean="0">
                <a:latin typeface="Arial" panose="020B0604020202020204" pitchFamily="34" charset="0"/>
                <a:cs typeface="Arial" panose="020B0604020202020204" pitchFamily="34" charset="0"/>
              </a:rPr>
              <a:t>Conclusion </a:t>
            </a:r>
            <a:endParaRPr lang="fr-FR" sz="3000" b="1" dirty="0">
              <a:latin typeface="Arial" panose="020B0604020202020204" pitchFamily="34" charset="0"/>
              <a:cs typeface="Arial" panose="020B0604020202020204" pitchFamily="34" charset="0"/>
            </a:endParaRPr>
          </a:p>
        </p:txBody>
      </p:sp>
      <p:sp>
        <p:nvSpPr>
          <p:cNvPr id="3" name="Espace réservé du contenu 2"/>
          <p:cNvSpPr>
            <a:spLocks noGrp="1"/>
          </p:cNvSpPr>
          <p:nvPr>
            <p:ph sz="quarter" idx="13"/>
          </p:nvPr>
        </p:nvSpPr>
        <p:spPr>
          <a:xfrm>
            <a:off x="539552" y="1412776"/>
            <a:ext cx="7924800" cy="4114800"/>
          </a:xfrm>
        </p:spPr>
        <p:txBody>
          <a:bodyPr>
            <a:normAutofit lnSpcReduction="10000"/>
          </a:bodyPr>
          <a:lstStyle/>
          <a:p>
            <a:pPr algn="just"/>
            <a:r>
              <a:rPr lang="fr-FR" sz="1800" dirty="0" smtClean="0">
                <a:latin typeface="Arial" panose="020B0604020202020204" pitchFamily="34" charset="0"/>
                <a:cs typeface="Arial" panose="020B0604020202020204" pitchFamily="34" charset="0"/>
              </a:rPr>
              <a:t>La mise en conformité du système CRM avec le RGPD représente bien plus qu’une simple obligation légale : elle constitue une démarche stratégique visant à instaurer une véritable culture de la confidentialité et de la responsabilité au sein de l’entreprise.</a:t>
            </a:r>
          </a:p>
          <a:p>
            <a:pPr marL="0" indent="0" algn="just">
              <a:buNone/>
            </a:pPr>
            <a:endParaRPr lang="fr-FR" sz="1800" dirty="0" smtClean="0">
              <a:latin typeface="Arial" panose="020B0604020202020204" pitchFamily="34" charset="0"/>
              <a:cs typeface="Arial" panose="020B0604020202020204" pitchFamily="34" charset="0"/>
            </a:endParaRPr>
          </a:p>
          <a:p>
            <a:pPr algn="just"/>
            <a:r>
              <a:rPr lang="fr-FR" sz="1800" dirty="0" smtClean="0">
                <a:latin typeface="Arial" panose="020B0604020202020204" pitchFamily="34" charset="0"/>
                <a:cs typeface="Arial" panose="020B0604020202020204" pitchFamily="34" charset="0"/>
              </a:rPr>
              <a:t>Le respect des principes de minimisation, de sécurité et de transparence permet non seulement d’éviter les sanctions, mais aussi de renforcer la confiance des clients et partenaires.</a:t>
            </a:r>
          </a:p>
          <a:p>
            <a:pPr algn="just"/>
            <a:endParaRPr lang="fr-FR" sz="1800" dirty="0" smtClean="0">
              <a:latin typeface="Arial" panose="020B0604020202020204" pitchFamily="34" charset="0"/>
              <a:cs typeface="Arial" panose="020B0604020202020204" pitchFamily="34" charset="0"/>
            </a:endParaRPr>
          </a:p>
          <a:p>
            <a:pPr algn="just"/>
            <a:r>
              <a:rPr lang="fr-FR" sz="1800" dirty="0" smtClean="0">
                <a:latin typeface="Arial" panose="020B0604020202020204" pitchFamily="34" charset="0"/>
                <a:cs typeface="Arial" panose="020B0604020202020204" pitchFamily="34" charset="0"/>
              </a:rPr>
              <a:t>la conformité au RGPD doit être envisagée non comme une contrainte ponctuelle, mais comme un levier de performance, de transparence et de confiance, au cœur de la transformation numérique de l’organisation.</a:t>
            </a:r>
            <a:endParaRPr lang="fr-FR" sz="1800" dirty="0">
              <a:latin typeface="Arial" panose="020B0604020202020204" pitchFamily="34" charset="0"/>
              <a:cs typeface="Arial" panose="020B0604020202020204" pitchFamily="34" charset="0"/>
            </a:endParaRPr>
          </a:p>
        </p:txBody>
      </p:sp>
      <p:sp>
        <p:nvSpPr>
          <p:cNvPr id="5" name="Espace réservé du numéro de diapositive 4"/>
          <p:cNvSpPr>
            <a:spLocks noGrp="1"/>
          </p:cNvSpPr>
          <p:nvPr>
            <p:ph type="sldNum" sz="quarter" idx="12"/>
          </p:nvPr>
        </p:nvSpPr>
        <p:spPr/>
        <p:txBody>
          <a:bodyPr/>
          <a:lstStyle/>
          <a:p>
            <a:fld id="{ED7C5483-BB9D-4EF4-A8A5-8F41CA8E1BF3}" type="slidenum">
              <a:rPr lang="fr-FR" smtClean="0"/>
              <a:t>21</a:t>
            </a:fld>
            <a:endParaRPr lang="fr-FR"/>
          </a:p>
        </p:txBody>
      </p:sp>
    </p:spTree>
    <p:extLst>
      <p:ext uri="{BB962C8B-B14F-4D97-AF65-F5344CB8AC3E}">
        <p14:creationId xmlns:p14="http://schemas.microsoft.com/office/powerpoint/2010/main" val="4097478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467544" y="2852936"/>
            <a:ext cx="8229600" cy="892696"/>
          </a:xfrm>
        </p:spPr>
        <p:txBody>
          <a:bodyPr>
            <a:normAutofit/>
          </a:bodyPr>
          <a:lstStyle/>
          <a:p>
            <a:pPr marL="0" indent="0" algn="ctr">
              <a:buNone/>
            </a:pPr>
            <a:r>
              <a:rPr lang="fr-FR" sz="4000" b="1" dirty="0" smtClean="0">
                <a:latin typeface="Arial" panose="020B0604020202020204" pitchFamily="34" charset="0"/>
                <a:cs typeface="Arial" panose="020B0604020202020204" pitchFamily="34" charset="0"/>
              </a:rPr>
              <a:t>Merci de votre attention </a:t>
            </a:r>
            <a:endParaRPr lang="fr-FR" sz="4000" b="1"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2"/>
          </p:nvPr>
        </p:nvSpPr>
        <p:spPr/>
        <p:txBody>
          <a:bodyPr/>
          <a:lstStyle/>
          <a:p>
            <a:fld id="{ED7C5483-BB9D-4EF4-A8A5-8F41CA8E1BF3}" type="slidenum">
              <a:rPr lang="fr-FR" smtClean="0"/>
              <a:t>22</a:t>
            </a:fld>
            <a:endParaRPr lang="fr-FR" dirty="0"/>
          </a:p>
        </p:txBody>
      </p:sp>
    </p:spTree>
    <p:extLst>
      <p:ext uri="{BB962C8B-B14F-4D97-AF65-F5344CB8AC3E}">
        <p14:creationId xmlns:p14="http://schemas.microsoft.com/office/powerpoint/2010/main" val="3098457662"/>
      </p:ext>
    </p:extLst>
  </p:cSld>
  <p:clrMapOvr>
    <a:masterClrMapping/>
  </p:clrMapOvr>
  <p:timing>
    <p:tnLst>
      <p:par>
        <p:cTn id="1" dur="indefinite" restart="never" nodeType="tmRoot"/>
      </p:par>
    </p:tnLst>
  </p:timing>
</p:sld>
</file>

<file path=ppt/theme/theme1.xml><?xml version="1.0" encoding="utf-8"?>
<a:theme xmlns:a="http://schemas.openxmlformats.org/drawingml/2006/main" name="Horizon">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261</TotalTime>
  <Words>779</Words>
  <Application>Microsoft Office PowerPoint</Application>
  <PresentationFormat>Affichage à l'écran (4:3)</PresentationFormat>
  <Paragraphs>111</Paragraphs>
  <Slides>22</Slides>
  <Notes>2</Notes>
  <HiddenSlides>0</HiddenSlides>
  <MMClips>0</MMClips>
  <ScaleCrop>false</ScaleCrop>
  <HeadingPairs>
    <vt:vector size="4" baseType="variant">
      <vt:variant>
        <vt:lpstr>Thème</vt:lpstr>
      </vt:variant>
      <vt:variant>
        <vt:i4>1</vt:i4>
      </vt:variant>
      <vt:variant>
        <vt:lpstr>Titres des diapositives</vt:lpstr>
      </vt:variant>
      <vt:variant>
        <vt:i4>22</vt:i4>
      </vt:variant>
    </vt:vector>
  </HeadingPairs>
  <TitlesOfParts>
    <vt:vector size="23" baseType="lpstr">
      <vt:lpstr>Horizon</vt:lpstr>
      <vt:lpstr> Collecte de données en respectant les normes RGPD </vt:lpstr>
      <vt:lpstr>Objectifs et enjeux </vt:lpstr>
      <vt:lpstr>Règles de gestion à respecter pour être conforme avec RGPD </vt:lpstr>
      <vt:lpstr>Requête SQL</vt:lpstr>
      <vt:lpstr>Requête SQL</vt:lpstr>
      <vt:lpstr>Les traitements effectués sur le jeu de données pour le rendre compatible avec le RGPD</vt:lpstr>
      <vt:lpstr> Les traitements effectués sur le jeu de données pour le rendre compatible avec le RGPD</vt:lpstr>
      <vt:lpstr> Les traitements effectués sur le jeu de données pour le rendre compatible avec le RGPD</vt:lpstr>
      <vt:lpstr> Les traitements effectués sur le jeu de données pour le rendre compatible avec le RGPD</vt:lpstr>
      <vt:lpstr> Les traitements effectués sur le jeu de données pour le rendre compatible avec le RGPD</vt:lpstr>
      <vt:lpstr> Les traitements effectués sur le jeu de données pour le rendre compatible avec le RGPD</vt:lpstr>
      <vt:lpstr>Présentation PowerPoint</vt:lpstr>
      <vt:lpstr>Présentation PowerPoint</vt:lpstr>
      <vt:lpstr> Les traitements effectués sur le jeu de données pour le rendre compatible avec le RGPD</vt:lpstr>
      <vt:lpstr>Présentation PowerPoint</vt:lpstr>
      <vt:lpstr>Présentation PowerPoint</vt:lpstr>
      <vt:lpstr> Le fichier final</vt:lpstr>
      <vt:lpstr> Recommandations pour principes non immédiatement applicables:</vt:lpstr>
      <vt:lpstr> Préconisations à destination de la direction:</vt:lpstr>
      <vt:lpstr> Respect de processus qualité:</vt:lpstr>
      <vt:lpstr>Conclusion </vt:lpstr>
      <vt:lpstr>Présentation PowerPoint</vt:lpstr>
    </vt:vector>
  </TitlesOfParts>
  <Company>Schwert-Gfx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Collecte de données en respectant les normes RGPD</dc:title>
  <dc:creator>salam</dc:creator>
  <cp:lastModifiedBy>salam</cp:lastModifiedBy>
  <cp:revision>10</cp:revision>
  <dcterms:created xsi:type="dcterms:W3CDTF">2025-10-29T14:41:39Z</dcterms:created>
  <dcterms:modified xsi:type="dcterms:W3CDTF">2025-11-01T14:43:51Z</dcterms:modified>
</cp:coreProperties>
</file>